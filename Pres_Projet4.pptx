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94694"/>
  </p:normalViewPr>
  <p:slideViewPr>
    <p:cSldViewPr snapToGrid="0">
      <p:cViewPr varScale="1">
        <p:scale>
          <a:sx n="121" d="100"/>
          <a:sy n="121" d="100"/>
        </p:scale>
        <p:origin x="32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DA51639-B2D6-4652-B8C3-1B4C224A7BAF}" type="datetimeFigureOut">
              <a:rPr lang="en-US" dirty="0"/>
              <a:t>2/1/26</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dirty="0"/>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2FF5DD9-2C52-442D-92E2-8072C0C3D7CD}" type="datetimeFigureOut">
              <a:rPr lang="en-US" dirty="0"/>
              <a:t>2/1/26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44961B7-6B89-48AB-966F-622E2788EECC}" type="datetimeFigureOut">
              <a:rPr lang="en-US" dirty="0"/>
              <a:t>2/1/26</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dirty="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dirty="0"/>
              <a:t>2/1/26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dirty="0"/>
              <a:t>2/1/26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dirty="0"/>
              <a:t>2/1/26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dirty="0"/>
              <a:t>2/1/26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1CF131DD-A141-4471-BCF9-C6073EDD7E20}" type="datetimeFigureOut">
              <a:rPr lang="en-US" dirty="0"/>
              <a:t>2/1/26</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B334A90-EB03-42F3-8859-2C2B2724C058}" type="datetimeFigureOut">
              <a:rPr lang="en-US" dirty="0"/>
              <a:t>2/1/26</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dirty="0"/>
              <a:pPr/>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dirty="0"/>
              <a:t>2/1/26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dirty="0"/>
              <a:t>2/1/26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dirty="0"/>
              <a:t>2/1/26</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B92DE-B4C3-2100-97B1-47C2B03D7301}"/>
              </a:ext>
            </a:extLst>
          </p:cNvPr>
          <p:cNvSpPr>
            <a:spLocks noGrp="1"/>
          </p:cNvSpPr>
          <p:nvPr>
            <p:ph type="ctrTitle"/>
          </p:nvPr>
        </p:nvSpPr>
        <p:spPr/>
        <p:txBody>
          <a:bodyPr/>
          <a:lstStyle/>
          <a:p>
            <a:br>
              <a:rPr lang="fr-FR" noProof="0" dirty="0"/>
            </a:br>
            <a:r>
              <a:rPr lang="fr-FR" noProof="0" dirty="0"/>
              <a:t>Projet 4</a:t>
            </a:r>
            <a:br>
              <a:rPr lang="fr-FR" noProof="0" dirty="0"/>
            </a:br>
            <a:r>
              <a:rPr lang="fr-FR" sz="2400" noProof="0" dirty="0">
                <a:latin typeface="+mn-lt"/>
              </a:rPr>
              <a:t>Mission - Identifiez les causes d'attrition au sein de l’ESN </a:t>
            </a:r>
            <a:br>
              <a:rPr lang="fr-FR" sz="2400" noProof="0" dirty="0">
                <a:latin typeface="+mn-lt"/>
              </a:rPr>
            </a:br>
            <a:br>
              <a:rPr lang="fr-FR" sz="2400" noProof="0" dirty="0">
                <a:latin typeface="+mn-lt"/>
              </a:rPr>
            </a:br>
            <a:r>
              <a:rPr lang="fr-FR" sz="2400" b="1" noProof="0" dirty="0"/>
              <a:t>TechNova Partners</a:t>
            </a:r>
            <a:br>
              <a:rPr lang="fr-FR" b="1" noProof="0" dirty="0">
                <a:latin typeface="+mn-lt"/>
              </a:rPr>
            </a:br>
            <a:endParaRPr lang="fr-FR" b="1" noProof="0" dirty="0">
              <a:latin typeface="+mn-lt"/>
            </a:endParaRPr>
          </a:p>
        </p:txBody>
      </p:sp>
      <p:sp>
        <p:nvSpPr>
          <p:cNvPr id="3" name="Subtitle 2">
            <a:extLst>
              <a:ext uri="{FF2B5EF4-FFF2-40B4-BE49-F238E27FC236}">
                <a16:creationId xmlns:a16="http://schemas.microsoft.com/office/drawing/2014/main" id="{706ED538-416E-B57A-1A4F-9123B4EE276A}"/>
              </a:ext>
            </a:extLst>
          </p:cNvPr>
          <p:cNvSpPr>
            <a:spLocks noGrp="1"/>
          </p:cNvSpPr>
          <p:nvPr>
            <p:ph type="subTitle" idx="1"/>
          </p:nvPr>
        </p:nvSpPr>
        <p:spPr/>
        <p:txBody>
          <a:bodyPr/>
          <a:lstStyle/>
          <a:p>
            <a:pPr algn="r"/>
            <a:r>
              <a:rPr lang="fr-FR" noProof="0" dirty="0"/>
              <a:t>Analyse réalisée par </a:t>
            </a:r>
            <a:r>
              <a:rPr lang="fr-FR" noProof="0"/>
              <a:t>Fatima-Zahra BARHOU</a:t>
            </a:r>
            <a:endParaRPr lang="fr-FR" noProof="0" dirty="0"/>
          </a:p>
        </p:txBody>
      </p:sp>
    </p:spTree>
    <p:extLst>
      <p:ext uri="{BB962C8B-B14F-4D97-AF65-F5344CB8AC3E}">
        <p14:creationId xmlns:p14="http://schemas.microsoft.com/office/powerpoint/2010/main" val="573157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EC96-B86D-22C7-8836-43194CD5A6D0}"/>
              </a:ext>
            </a:extLst>
          </p:cNvPr>
          <p:cNvSpPr>
            <a:spLocks noGrp="1"/>
          </p:cNvSpPr>
          <p:nvPr>
            <p:ph type="title"/>
          </p:nvPr>
        </p:nvSpPr>
        <p:spPr>
          <a:xfrm>
            <a:off x="690282" y="215152"/>
            <a:ext cx="10058400" cy="672353"/>
          </a:xfrm>
        </p:spPr>
        <p:txBody>
          <a:bodyPr>
            <a:normAutofit fontScale="90000"/>
          </a:bodyPr>
          <a:lstStyle/>
          <a:p>
            <a:r>
              <a:rPr lang="fr-FR" noProof="0" dirty="0"/>
              <a:t>Contexte : </a:t>
            </a:r>
          </a:p>
        </p:txBody>
      </p:sp>
      <p:sp>
        <p:nvSpPr>
          <p:cNvPr id="3" name="Content Placeholder 2">
            <a:extLst>
              <a:ext uri="{FF2B5EF4-FFF2-40B4-BE49-F238E27FC236}">
                <a16:creationId xmlns:a16="http://schemas.microsoft.com/office/drawing/2014/main" id="{F489D5BC-798C-789A-2CDC-B9A9A568A112}"/>
              </a:ext>
            </a:extLst>
          </p:cNvPr>
          <p:cNvSpPr>
            <a:spLocks noGrp="1"/>
          </p:cNvSpPr>
          <p:nvPr>
            <p:ph idx="1"/>
          </p:nvPr>
        </p:nvSpPr>
        <p:spPr>
          <a:xfrm>
            <a:off x="690282" y="1231750"/>
            <a:ext cx="10058400" cy="3931920"/>
          </a:xfrm>
        </p:spPr>
        <p:txBody>
          <a:bodyPr/>
          <a:lstStyle/>
          <a:p>
            <a:r>
              <a:rPr lang="fr-FR" noProof="0" dirty="0"/>
              <a:t>TECHNOVA PARTNERS fait face à une recrudescence des démissions ces derniers mois.</a:t>
            </a:r>
          </a:p>
          <a:p>
            <a:r>
              <a:rPr lang="fr-FR" noProof="0" dirty="0"/>
              <a:t>Notre objectif est d’identifier les causes racines potentielles derrière ces démissions.</a:t>
            </a:r>
          </a:p>
          <a:p>
            <a:r>
              <a:rPr lang="fr-FR" noProof="0" dirty="0"/>
              <a:t>L’entreprise nous a confié 3 </a:t>
            </a:r>
            <a:r>
              <a:rPr lang="fr-FR" noProof="0" dirty="0" err="1"/>
              <a:t>datasets</a:t>
            </a:r>
            <a:r>
              <a:rPr lang="fr-FR" noProof="0" dirty="0"/>
              <a:t> pour mener notre étude sur ses 1470 salariés : </a:t>
            </a:r>
          </a:p>
          <a:p>
            <a:pPr marL="0" indent="0">
              <a:buNone/>
            </a:pPr>
            <a:r>
              <a:rPr lang="fr-FR" noProof="0" dirty="0"/>
              <a:t>	- </a:t>
            </a:r>
            <a:r>
              <a:rPr lang="fr-FR" b="1" noProof="0" dirty="0"/>
              <a:t>Un extrait du système SIRH </a:t>
            </a:r>
          </a:p>
          <a:p>
            <a:pPr marL="0" indent="0">
              <a:buNone/>
            </a:pPr>
            <a:r>
              <a:rPr lang="fr-FR" b="1" noProof="0" dirty="0"/>
              <a:t>	- Un extrait des évaluations annuelles de performance</a:t>
            </a:r>
          </a:p>
          <a:p>
            <a:pPr marL="0" indent="0">
              <a:buNone/>
            </a:pPr>
            <a:r>
              <a:rPr lang="fr-FR" b="1" noProof="0" dirty="0"/>
              <a:t>	- Un extrait d’un sondage sur la satisfaction</a:t>
            </a:r>
          </a:p>
          <a:p>
            <a:pPr marL="0" indent="0">
              <a:buNone/>
            </a:pPr>
            <a:endParaRPr lang="en-US" b="1" dirty="0"/>
          </a:p>
        </p:txBody>
      </p:sp>
      <p:pic>
        <p:nvPicPr>
          <p:cNvPr id="4" name="Picture 3">
            <a:extLst>
              <a:ext uri="{FF2B5EF4-FFF2-40B4-BE49-F238E27FC236}">
                <a16:creationId xmlns:a16="http://schemas.microsoft.com/office/drawing/2014/main" id="{73EC5F53-27F8-7C3C-438B-D6973D6D25F0}"/>
              </a:ext>
            </a:extLst>
          </p:cNvPr>
          <p:cNvPicPr>
            <a:picLocks noChangeAspect="1"/>
          </p:cNvPicPr>
          <p:nvPr/>
        </p:nvPicPr>
        <p:blipFill>
          <a:blip r:embed="rId2"/>
          <a:stretch>
            <a:fillRect/>
          </a:stretch>
        </p:blipFill>
        <p:spPr>
          <a:xfrm>
            <a:off x="366879" y="3890981"/>
            <a:ext cx="3477409" cy="2545376"/>
          </a:xfrm>
          <a:prstGeom prst="rect">
            <a:avLst/>
          </a:prstGeom>
        </p:spPr>
      </p:pic>
      <p:pic>
        <p:nvPicPr>
          <p:cNvPr id="5" name="Picture 4">
            <a:extLst>
              <a:ext uri="{FF2B5EF4-FFF2-40B4-BE49-F238E27FC236}">
                <a16:creationId xmlns:a16="http://schemas.microsoft.com/office/drawing/2014/main" id="{C992CC2F-F299-33EC-72CA-4D27F4C5279E}"/>
              </a:ext>
            </a:extLst>
          </p:cNvPr>
          <p:cNvPicPr>
            <a:picLocks noChangeAspect="1"/>
          </p:cNvPicPr>
          <p:nvPr/>
        </p:nvPicPr>
        <p:blipFill>
          <a:blip r:embed="rId3"/>
          <a:stretch>
            <a:fillRect/>
          </a:stretch>
        </p:blipFill>
        <p:spPr>
          <a:xfrm>
            <a:off x="3960300" y="3890981"/>
            <a:ext cx="4381283" cy="2545376"/>
          </a:xfrm>
          <a:prstGeom prst="rect">
            <a:avLst/>
          </a:prstGeom>
        </p:spPr>
      </p:pic>
      <p:pic>
        <p:nvPicPr>
          <p:cNvPr id="6" name="Picture 5">
            <a:extLst>
              <a:ext uri="{FF2B5EF4-FFF2-40B4-BE49-F238E27FC236}">
                <a16:creationId xmlns:a16="http://schemas.microsoft.com/office/drawing/2014/main" id="{6630A9B1-39AF-CD0F-C4BF-6E336C0BD192}"/>
              </a:ext>
            </a:extLst>
          </p:cNvPr>
          <p:cNvPicPr>
            <a:picLocks noChangeAspect="1"/>
          </p:cNvPicPr>
          <p:nvPr/>
        </p:nvPicPr>
        <p:blipFill>
          <a:blip r:embed="rId4"/>
          <a:srcRect r="30868"/>
          <a:stretch>
            <a:fillRect/>
          </a:stretch>
        </p:blipFill>
        <p:spPr>
          <a:xfrm>
            <a:off x="8553742" y="3890982"/>
            <a:ext cx="3271379" cy="2545376"/>
          </a:xfrm>
          <a:prstGeom prst="rect">
            <a:avLst/>
          </a:prstGeom>
        </p:spPr>
      </p:pic>
    </p:spTree>
    <p:extLst>
      <p:ext uri="{BB962C8B-B14F-4D97-AF65-F5344CB8AC3E}">
        <p14:creationId xmlns:p14="http://schemas.microsoft.com/office/powerpoint/2010/main" val="3708581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5C325-3678-C33B-5B5D-0C68EC77E503}"/>
              </a:ext>
            </a:extLst>
          </p:cNvPr>
          <p:cNvSpPr>
            <a:spLocks noGrp="1"/>
          </p:cNvSpPr>
          <p:nvPr>
            <p:ph type="title"/>
          </p:nvPr>
        </p:nvSpPr>
        <p:spPr>
          <a:xfrm>
            <a:off x="649941" y="215153"/>
            <a:ext cx="10058400" cy="833718"/>
          </a:xfrm>
        </p:spPr>
        <p:txBody>
          <a:bodyPr/>
          <a:lstStyle/>
          <a:p>
            <a:r>
              <a:rPr lang="fr-FR" dirty="0"/>
              <a:t>Analyse exploratoire</a:t>
            </a:r>
          </a:p>
        </p:txBody>
      </p:sp>
      <p:sp>
        <p:nvSpPr>
          <p:cNvPr id="3" name="Content Placeholder 2">
            <a:extLst>
              <a:ext uri="{FF2B5EF4-FFF2-40B4-BE49-F238E27FC236}">
                <a16:creationId xmlns:a16="http://schemas.microsoft.com/office/drawing/2014/main" id="{9E223543-5FB0-6227-1105-68419A34D1DB}"/>
              </a:ext>
            </a:extLst>
          </p:cNvPr>
          <p:cNvSpPr>
            <a:spLocks noGrp="1"/>
          </p:cNvSpPr>
          <p:nvPr>
            <p:ph idx="1"/>
          </p:nvPr>
        </p:nvSpPr>
        <p:spPr>
          <a:xfrm>
            <a:off x="430306" y="1075766"/>
            <a:ext cx="10735235" cy="5053404"/>
          </a:xfrm>
        </p:spPr>
        <p:txBody>
          <a:bodyPr/>
          <a:lstStyle/>
          <a:p>
            <a:endParaRPr lang="fr-FR" dirty="0"/>
          </a:p>
          <a:p>
            <a:r>
              <a:rPr lang="fr-FR" dirty="0"/>
              <a:t>Pour pouvoir exploiter ces données, nous avons besoin de les comprendre, les analyser, et les améliorer à travers différentes étapes et analyses statistiques.</a:t>
            </a:r>
          </a:p>
          <a:p>
            <a:pPr marL="0" indent="0">
              <a:buNone/>
            </a:pPr>
            <a:endParaRPr lang="fr-FR" dirty="0"/>
          </a:p>
          <a:p>
            <a:r>
              <a:rPr lang="fr-FR" dirty="0"/>
              <a:t>Ces analyses exploratoires ( </a:t>
            </a:r>
            <a:r>
              <a:rPr lang="fr-FR" b="1" dirty="0" err="1"/>
              <a:t>Describe</a:t>
            </a:r>
            <a:r>
              <a:rPr lang="fr-FR" dirty="0"/>
              <a:t> ) nous a permis de détecter un indice commun entre les  3 fichiers permettant de les rapprocher et obtenir un </a:t>
            </a:r>
            <a:r>
              <a:rPr lang="fr-FR" dirty="0" err="1"/>
              <a:t>Dataframe</a:t>
            </a:r>
            <a:r>
              <a:rPr lang="fr-FR" dirty="0"/>
              <a:t> global base de notre étude. Ces colonnes sont </a:t>
            </a:r>
            <a:r>
              <a:rPr lang="fr-FR" b="1" dirty="0" err="1"/>
              <a:t>Id_employee</a:t>
            </a:r>
            <a:r>
              <a:rPr lang="fr-FR" dirty="0"/>
              <a:t> , </a:t>
            </a:r>
            <a:r>
              <a:rPr lang="fr-FR" b="1" dirty="0"/>
              <a:t>code sondage </a:t>
            </a:r>
            <a:r>
              <a:rPr lang="fr-FR" dirty="0"/>
              <a:t>et </a:t>
            </a:r>
            <a:r>
              <a:rPr lang="fr-FR" b="1" dirty="0" err="1"/>
              <a:t>eval</a:t>
            </a:r>
            <a:r>
              <a:rPr lang="fr-FR" b="1" dirty="0"/>
              <a:t> </a:t>
            </a:r>
            <a:r>
              <a:rPr lang="fr-FR" b="1" dirty="0" err="1"/>
              <a:t>number</a:t>
            </a:r>
            <a:r>
              <a:rPr lang="fr-FR" b="1" dirty="0"/>
              <a:t> </a:t>
            </a:r>
            <a:r>
              <a:rPr lang="fr-FR" dirty="0"/>
              <a:t>qui ont les mêmes statistiques descriptives et contiennent indirectement </a:t>
            </a:r>
            <a:r>
              <a:rPr lang="fr-FR" dirty="0" err="1"/>
              <a:t>l’id</a:t>
            </a:r>
            <a:r>
              <a:rPr lang="fr-FR" dirty="0"/>
              <a:t> de chaque salarié.</a:t>
            </a:r>
          </a:p>
          <a:p>
            <a:endParaRPr lang="fr-FR" dirty="0"/>
          </a:p>
          <a:p>
            <a:r>
              <a:rPr lang="fr-FR" dirty="0"/>
              <a:t>Ensuite nous étudions chaque colonne du Dataset pour l’améliorer : </a:t>
            </a:r>
          </a:p>
          <a:p>
            <a:pPr marL="0" indent="0">
              <a:buNone/>
            </a:pPr>
            <a:r>
              <a:rPr lang="fr-FR" dirty="0"/>
              <a:t>On renomme certaines colonnes pour plus de simplicité, on supprime les colonnes inutiles qui n’apporte pas d’information utile à l’analyse ( 1 seule valeur pour toute les colonnes).</a:t>
            </a:r>
          </a:p>
          <a:p>
            <a:pPr marL="0" indent="0">
              <a:buNone/>
            </a:pPr>
            <a:r>
              <a:rPr lang="fr-FR" dirty="0"/>
              <a:t>On harmonise les données ( passer les % en chiffres ), puis on analyse les deux catégories des salariés : Démissionnaires vs Restants.</a:t>
            </a:r>
          </a:p>
        </p:txBody>
      </p:sp>
    </p:spTree>
    <p:extLst>
      <p:ext uri="{BB962C8B-B14F-4D97-AF65-F5344CB8AC3E}">
        <p14:creationId xmlns:p14="http://schemas.microsoft.com/office/powerpoint/2010/main" val="267516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A28AA-3993-DABD-7181-47194B7FB7E7}"/>
              </a:ext>
            </a:extLst>
          </p:cNvPr>
          <p:cNvSpPr>
            <a:spLocks noGrp="1"/>
          </p:cNvSpPr>
          <p:nvPr>
            <p:ph type="title"/>
          </p:nvPr>
        </p:nvSpPr>
        <p:spPr>
          <a:xfrm>
            <a:off x="838200" y="104711"/>
            <a:ext cx="10058400" cy="876924"/>
          </a:xfrm>
        </p:spPr>
        <p:txBody>
          <a:bodyPr/>
          <a:lstStyle/>
          <a:p>
            <a:r>
              <a:rPr lang="fr-FR" dirty="0"/>
              <a:t>Comparaison du Turnover : </a:t>
            </a:r>
          </a:p>
        </p:txBody>
      </p:sp>
      <p:pic>
        <p:nvPicPr>
          <p:cNvPr id="4" name="Content Placeholder 3">
            <a:extLst>
              <a:ext uri="{FF2B5EF4-FFF2-40B4-BE49-F238E27FC236}">
                <a16:creationId xmlns:a16="http://schemas.microsoft.com/office/drawing/2014/main" id="{0D5DC368-0413-9956-C5D6-0158EE7B720E}"/>
              </a:ext>
            </a:extLst>
          </p:cNvPr>
          <p:cNvPicPr>
            <a:picLocks noGrp="1" noChangeAspect="1"/>
          </p:cNvPicPr>
          <p:nvPr>
            <p:ph idx="1"/>
          </p:nvPr>
        </p:nvPicPr>
        <p:blipFill>
          <a:blip r:embed="rId2"/>
          <a:stretch>
            <a:fillRect/>
          </a:stretch>
        </p:blipFill>
        <p:spPr>
          <a:xfrm>
            <a:off x="269427" y="1504858"/>
            <a:ext cx="5294111" cy="2636836"/>
          </a:xfrm>
          <a:prstGeom prst="rect">
            <a:avLst/>
          </a:prstGeom>
        </p:spPr>
      </p:pic>
      <p:pic>
        <p:nvPicPr>
          <p:cNvPr id="6" name="Picture 5">
            <a:extLst>
              <a:ext uri="{FF2B5EF4-FFF2-40B4-BE49-F238E27FC236}">
                <a16:creationId xmlns:a16="http://schemas.microsoft.com/office/drawing/2014/main" id="{0A5285EC-5DE9-F931-E11F-3F4107D5084E}"/>
              </a:ext>
            </a:extLst>
          </p:cNvPr>
          <p:cNvPicPr>
            <a:picLocks noChangeAspect="1"/>
          </p:cNvPicPr>
          <p:nvPr/>
        </p:nvPicPr>
        <p:blipFill>
          <a:blip r:embed="rId3"/>
          <a:stretch>
            <a:fillRect/>
          </a:stretch>
        </p:blipFill>
        <p:spPr>
          <a:xfrm>
            <a:off x="5645485" y="2649071"/>
            <a:ext cx="6277088" cy="3918766"/>
          </a:xfrm>
          <a:prstGeom prst="rect">
            <a:avLst/>
          </a:prstGeom>
        </p:spPr>
      </p:pic>
    </p:spTree>
    <p:extLst>
      <p:ext uri="{BB962C8B-B14F-4D97-AF65-F5344CB8AC3E}">
        <p14:creationId xmlns:p14="http://schemas.microsoft.com/office/powerpoint/2010/main" val="3229542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6696991-69D1-EB9C-B619-D6BFE0A29055}"/>
              </a:ext>
            </a:extLst>
          </p:cNvPr>
          <p:cNvPicPr>
            <a:picLocks noGrp="1" noChangeAspect="1"/>
          </p:cNvPicPr>
          <p:nvPr>
            <p:ph idx="1"/>
          </p:nvPr>
        </p:nvPicPr>
        <p:blipFill>
          <a:blip r:embed="rId2"/>
          <a:stretch>
            <a:fillRect/>
          </a:stretch>
        </p:blipFill>
        <p:spPr>
          <a:xfrm>
            <a:off x="347186" y="295835"/>
            <a:ext cx="6460911" cy="2774219"/>
          </a:xfrm>
          <a:prstGeom prst="rect">
            <a:avLst/>
          </a:prstGeom>
        </p:spPr>
      </p:pic>
      <p:pic>
        <p:nvPicPr>
          <p:cNvPr id="5" name="Picture 4">
            <a:extLst>
              <a:ext uri="{FF2B5EF4-FFF2-40B4-BE49-F238E27FC236}">
                <a16:creationId xmlns:a16="http://schemas.microsoft.com/office/drawing/2014/main" id="{2FF2135A-6FEF-261B-A852-F8D01CF9965F}"/>
              </a:ext>
            </a:extLst>
          </p:cNvPr>
          <p:cNvPicPr>
            <a:picLocks noChangeAspect="1"/>
          </p:cNvPicPr>
          <p:nvPr/>
        </p:nvPicPr>
        <p:blipFill>
          <a:blip r:embed="rId3"/>
          <a:stretch>
            <a:fillRect/>
          </a:stretch>
        </p:blipFill>
        <p:spPr>
          <a:xfrm>
            <a:off x="4072023" y="3238261"/>
            <a:ext cx="7772400" cy="3337351"/>
          </a:xfrm>
          <a:prstGeom prst="rect">
            <a:avLst/>
          </a:prstGeom>
        </p:spPr>
      </p:pic>
    </p:spTree>
    <p:extLst>
      <p:ext uri="{BB962C8B-B14F-4D97-AF65-F5344CB8AC3E}">
        <p14:creationId xmlns:p14="http://schemas.microsoft.com/office/powerpoint/2010/main" val="22021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C9A84E5-1A6D-FB85-C39E-FF7D51652C71}"/>
              </a:ext>
            </a:extLst>
          </p:cNvPr>
          <p:cNvPicPr>
            <a:picLocks noGrp="1" noChangeAspect="1"/>
          </p:cNvPicPr>
          <p:nvPr>
            <p:ph idx="1"/>
          </p:nvPr>
        </p:nvPicPr>
        <p:blipFill>
          <a:blip r:embed="rId2"/>
          <a:stretch>
            <a:fillRect/>
          </a:stretch>
        </p:blipFill>
        <p:spPr>
          <a:xfrm>
            <a:off x="0" y="0"/>
            <a:ext cx="7411765" cy="3182501"/>
          </a:xfrm>
          <a:prstGeom prst="rect">
            <a:avLst/>
          </a:prstGeom>
        </p:spPr>
      </p:pic>
      <p:pic>
        <p:nvPicPr>
          <p:cNvPr id="5" name="Picture 4">
            <a:extLst>
              <a:ext uri="{FF2B5EF4-FFF2-40B4-BE49-F238E27FC236}">
                <a16:creationId xmlns:a16="http://schemas.microsoft.com/office/drawing/2014/main" id="{AAE3FCA3-5617-2A7E-D2B1-BC0BDF8E818E}"/>
              </a:ext>
            </a:extLst>
          </p:cNvPr>
          <p:cNvPicPr>
            <a:picLocks noChangeAspect="1"/>
          </p:cNvPicPr>
          <p:nvPr/>
        </p:nvPicPr>
        <p:blipFill>
          <a:blip r:embed="rId3"/>
          <a:stretch>
            <a:fillRect/>
          </a:stretch>
        </p:blipFill>
        <p:spPr>
          <a:xfrm>
            <a:off x="6109447" y="2685252"/>
            <a:ext cx="6055659" cy="4172748"/>
          </a:xfrm>
          <a:prstGeom prst="rect">
            <a:avLst/>
          </a:prstGeom>
        </p:spPr>
      </p:pic>
      <p:sp>
        <p:nvSpPr>
          <p:cNvPr id="7" name="TextBox 6">
            <a:extLst>
              <a:ext uri="{FF2B5EF4-FFF2-40B4-BE49-F238E27FC236}">
                <a16:creationId xmlns:a16="http://schemas.microsoft.com/office/drawing/2014/main" id="{C4840A22-3849-9BA3-C613-49E96DBFFD06}"/>
              </a:ext>
            </a:extLst>
          </p:cNvPr>
          <p:cNvSpPr txBox="1"/>
          <p:nvPr/>
        </p:nvSpPr>
        <p:spPr>
          <a:xfrm>
            <a:off x="311524" y="3312089"/>
            <a:ext cx="5684162" cy="3231654"/>
          </a:xfrm>
          <a:prstGeom prst="rect">
            <a:avLst/>
          </a:prstGeom>
          <a:noFill/>
        </p:spPr>
        <p:txBody>
          <a:bodyPr wrap="square" rtlCol="0">
            <a:spAutoFit/>
          </a:bodyPr>
          <a:lstStyle/>
          <a:p>
            <a:r>
              <a:rPr lang="fr-FR" sz="1200" b="1" noProof="0" dirty="0"/>
              <a:t>Constats : </a:t>
            </a:r>
          </a:p>
          <a:p>
            <a:endParaRPr lang="fr-FR" sz="1200" noProof="0" dirty="0"/>
          </a:p>
          <a:p>
            <a:r>
              <a:rPr lang="fr-FR" sz="1200" b="1" noProof="0" dirty="0"/>
              <a:t>Les démissionnaires sont :</a:t>
            </a:r>
          </a:p>
          <a:p>
            <a:pPr marL="171450" indent="-171450">
              <a:buFont typeface="Arial" panose="020B0604020202020204" pitchFamily="34" charset="0"/>
              <a:buChar char="•"/>
            </a:pPr>
            <a:r>
              <a:rPr lang="fr-FR" sz="1200" b="1" noProof="0" dirty="0"/>
              <a:t>plus jeunes</a:t>
            </a:r>
          </a:p>
          <a:p>
            <a:pPr marL="171450" indent="-171450">
              <a:buFont typeface="Arial" panose="020B0604020202020204" pitchFamily="34" charset="0"/>
              <a:buChar char="•"/>
            </a:pPr>
            <a:r>
              <a:rPr lang="fr-FR" sz="1200" b="1" noProof="0" dirty="0"/>
              <a:t>salaire plus bas</a:t>
            </a:r>
          </a:p>
          <a:p>
            <a:pPr marL="171450" indent="-171450">
              <a:buFont typeface="Arial" panose="020B0604020202020204" pitchFamily="34" charset="0"/>
              <a:buChar char="•"/>
            </a:pPr>
            <a:r>
              <a:rPr lang="fr-FR" sz="1200" b="1" noProof="0" dirty="0"/>
              <a:t>plus d’expériences précédentes mais moins d'années </a:t>
            </a:r>
            <a:r>
              <a:rPr lang="fr-FR" sz="1200" b="1" dirty="0"/>
              <a:t>d’expériences</a:t>
            </a:r>
            <a:r>
              <a:rPr lang="fr-FR" sz="1200" b="1" noProof="0" dirty="0"/>
              <a:t> </a:t>
            </a:r>
          </a:p>
          <a:p>
            <a:pPr marL="171450" indent="-171450">
              <a:buFont typeface="Arial" panose="020B0604020202020204" pitchFamily="34" charset="0"/>
              <a:buChar char="•"/>
            </a:pPr>
            <a:r>
              <a:rPr lang="fr-FR" sz="1200" b="1" noProof="0" dirty="0"/>
              <a:t>moins d'années en entreprise et en poste</a:t>
            </a:r>
          </a:p>
          <a:p>
            <a:pPr marL="171450" indent="-171450">
              <a:buFont typeface="Arial" panose="020B0604020202020204" pitchFamily="34" charset="0"/>
              <a:buChar char="•"/>
            </a:pPr>
            <a:r>
              <a:rPr lang="fr-FR" sz="1200" b="1" noProof="0" dirty="0"/>
              <a:t>niveau de poste plus bas</a:t>
            </a:r>
          </a:p>
          <a:p>
            <a:pPr marL="171450" indent="-171450">
              <a:buFont typeface="Arial" panose="020B0604020202020204" pitchFamily="34" charset="0"/>
              <a:buChar char="•"/>
            </a:pPr>
            <a:r>
              <a:rPr lang="fr-FR" sz="1200" b="1" noProof="0" dirty="0"/>
              <a:t>moins d’</a:t>
            </a:r>
            <a:r>
              <a:rPr lang="fr-FR" sz="1200" b="1" noProof="0" dirty="0" err="1"/>
              <a:t>augmentatio</a:t>
            </a:r>
            <a:r>
              <a:rPr lang="fr-FR" sz="1200" b="1" dirty="0"/>
              <a:t>n </a:t>
            </a:r>
            <a:r>
              <a:rPr lang="fr-FR" sz="1200" b="1" noProof="0" dirty="0"/>
              <a:t>de salaire</a:t>
            </a:r>
          </a:p>
          <a:p>
            <a:pPr marL="171450" indent="-171450">
              <a:buFont typeface="Arial" panose="020B0604020202020204" pitchFamily="34" charset="0"/>
              <a:buChar char="•"/>
            </a:pPr>
            <a:r>
              <a:rPr lang="fr-FR" sz="1200" b="1" noProof="0" dirty="0"/>
              <a:t>habitent plus loin</a:t>
            </a:r>
          </a:p>
          <a:p>
            <a:pPr marL="171450" indent="-171450">
              <a:buFont typeface="Arial" panose="020B0604020202020204" pitchFamily="34" charset="0"/>
              <a:buChar char="•"/>
            </a:pPr>
            <a:r>
              <a:rPr lang="fr-FR" sz="1200" b="1" noProof="0" dirty="0"/>
              <a:t>pas de promotion récente</a:t>
            </a:r>
          </a:p>
          <a:p>
            <a:pPr marL="171450" indent="-171450">
              <a:buFont typeface="Arial" panose="020B0604020202020204" pitchFamily="34" charset="0"/>
              <a:buChar char="•"/>
            </a:pPr>
            <a:r>
              <a:rPr lang="fr-FR" sz="1200" b="1" noProof="0" dirty="0"/>
              <a:t>moins de temps avec le responsable actuel</a:t>
            </a:r>
          </a:p>
          <a:p>
            <a:pPr marL="171450" indent="-171450">
              <a:buFont typeface="Arial" panose="020B0604020202020204" pitchFamily="34" charset="0"/>
              <a:buChar char="•"/>
            </a:pPr>
            <a:r>
              <a:rPr lang="fr-FR" sz="1200" b="1" noProof="0" dirty="0"/>
              <a:t>même Satisfaction globalement sauf la </a:t>
            </a:r>
            <a:r>
              <a:rPr lang="fr-FR" sz="1200" b="1" dirty="0"/>
              <a:t>s</a:t>
            </a:r>
            <a:r>
              <a:rPr lang="fr-FR" sz="1200" b="1" noProof="0" dirty="0"/>
              <a:t>at</a:t>
            </a:r>
            <a:r>
              <a:rPr lang="fr-FR" sz="1200" b="1" dirty="0" err="1"/>
              <a:t>isfaction</a:t>
            </a:r>
            <a:r>
              <a:rPr lang="fr-FR" sz="1200" b="1" dirty="0"/>
              <a:t> de la </a:t>
            </a:r>
            <a:r>
              <a:rPr lang="fr-FR" sz="1200" b="1" noProof="0" dirty="0"/>
              <a:t>nature de travail</a:t>
            </a:r>
          </a:p>
          <a:p>
            <a:pPr marL="171450" indent="-171450">
              <a:buFont typeface="Arial" panose="020B0604020202020204" pitchFamily="34" charset="0"/>
              <a:buChar char="•"/>
            </a:pPr>
            <a:r>
              <a:rPr lang="fr-FR" sz="1200" b="1" noProof="0" dirty="0"/>
              <a:t>même niveau d'éducation</a:t>
            </a:r>
          </a:p>
          <a:p>
            <a:pPr marL="171450" indent="-171450">
              <a:buFont typeface="Arial" panose="020B0604020202020204" pitchFamily="34" charset="0"/>
              <a:buChar char="•"/>
            </a:pPr>
            <a:r>
              <a:rPr lang="fr-FR" sz="1200" b="1" noProof="0" dirty="0"/>
              <a:t> même nombre de formation</a:t>
            </a:r>
          </a:p>
          <a:p>
            <a:pPr marL="171450" indent="-171450">
              <a:buFont typeface="Arial" panose="020B0604020202020204" pitchFamily="34" charset="0"/>
              <a:buChar char="•"/>
            </a:pPr>
            <a:r>
              <a:rPr lang="fr-FR" sz="1200" b="1" noProof="0" dirty="0"/>
              <a:t>même nombre de participation en PEE</a:t>
            </a:r>
          </a:p>
        </p:txBody>
      </p:sp>
    </p:spTree>
    <p:extLst>
      <p:ext uri="{BB962C8B-B14F-4D97-AF65-F5344CB8AC3E}">
        <p14:creationId xmlns:p14="http://schemas.microsoft.com/office/powerpoint/2010/main" val="3994874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8551D-4E64-885B-46A1-42F5466EA0AD}"/>
              </a:ext>
            </a:extLst>
          </p:cNvPr>
          <p:cNvSpPr>
            <a:spLocks noGrp="1"/>
          </p:cNvSpPr>
          <p:nvPr>
            <p:ph type="title"/>
          </p:nvPr>
        </p:nvSpPr>
        <p:spPr>
          <a:xfrm>
            <a:off x="985777" y="272204"/>
            <a:ext cx="10058400" cy="827391"/>
          </a:xfrm>
        </p:spPr>
        <p:txBody>
          <a:bodyPr/>
          <a:lstStyle/>
          <a:p>
            <a:r>
              <a:rPr lang="fr-FR" dirty="0"/>
              <a:t>Feature Engineering </a:t>
            </a:r>
          </a:p>
        </p:txBody>
      </p:sp>
      <p:sp>
        <p:nvSpPr>
          <p:cNvPr id="5" name="Content Placeholder 4">
            <a:extLst>
              <a:ext uri="{FF2B5EF4-FFF2-40B4-BE49-F238E27FC236}">
                <a16:creationId xmlns:a16="http://schemas.microsoft.com/office/drawing/2014/main" id="{1892C49A-29FF-36ED-5D78-90BD3BB6B829}"/>
              </a:ext>
            </a:extLst>
          </p:cNvPr>
          <p:cNvSpPr>
            <a:spLocks noGrp="1"/>
          </p:cNvSpPr>
          <p:nvPr>
            <p:ph idx="1"/>
          </p:nvPr>
        </p:nvSpPr>
        <p:spPr>
          <a:xfrm>
            <a:off x="682906" y="1412111"/>
            <a:ext cx="10361271" cy="4722471"/>
          </a:xfrm>
        </p:spPr>
        <p:txBody>
          <a:bodyPr>
            <a:normAutofit/>
          </a:bodyPr>
          <a:lstStyle/>
          <a:p>
            <a:r>
              <a:rPr lang="fr-FR" dirty="0"/>
              <a:t>Création de nouvelles variables pour compléter nos données , par exemple : </a:t>
            </a:r>
          </a:p>
          <a:p>
            <a:pPr marL="0" indent="0">
              <a:buNone/>
            </a:pPr>
            <a:r>
              <a:rPr lang="fr-FR" b="1" dirty="0"/>
              <a:t>	Salaries_fideles = AnneesLastpromotion &gt; 7 &amp; AnneesEnPoste &gt; 7 &amp; 			annes_sous_responsable_actuel &gt; 7</a:t>
            </a:r>
          </a:p>
          <a:p>
            <a:pPr>
              <a:buFont typeface="Wingdings" pitchFamily="2" charset="2"/>
              <a:buChar char="è"/>
            </a:pPr>
            <a:r>
              <a:rPr lang="fr-FR" dirty="0">
                <a:sym typeface="Wingdings" pitchFamily="2" charset="2"/>
              </a:rPr>
              <a:t>Pour savoir si même les salariés fidèles sont exposés au Turnover on pas.</a:t>
            </a:r>
          </a:p>
          <a:p>
            <a:pPr marL="0" indent="0">
              <a:buNone/>
            </a:pPr>
            <a:endParaRPr lang="fr-FR" dirty="0"/>
          </a:p>
          <a:p>
            <a:pPr marL="0" indent="0">
              <a:buNone/>
            </a:pPr>
            <a:r>
              <a:rPr lang="fr-FR" b="1" dirty="0"/>
              <a:t>	EvolSalaireMgr =  AugSalaire /  annes_sous_responsable_actuel </a:t>
            </a:r>
          </a:p>
          <a:p>
            <a:pPr>
              <a:buFont typeface="Wingdings" pitchFamily="2" charset="2"/>
              <a:buChar char="è"/>
            </a:pPr>
            <a:r>
              <a:rPr lang="fr-FR" dirty="0">
                <a:sym typeface="Wingdings" pitchFamily="2" charset="2"/>
              </a:rPr>
              <a:t>Pour mesurer la vitesse d’obtention des augmentations en fonction du temps passé avec le même manager. Ça pourrait également refléter les mauvaises pratiques managériales.</a:t>
            </a:r>
          </a:p>
          <a:p>
            <a:pPr marL="0" indent="0">
              <a:buNone/>
            </a:pPr>
            <a:endParaRPr lang="fr-FR" dirty="0"/>
          </a:p>
          <a:p>
            <a:pPr marL="0" indent="0">
              <a:buNone/>
            </a:pPr>
            <a:r>
              <a:rPr lang="fr-FR" b="1" dirty="0"/>
              <a:t>	Evol_eval  = NoteEval – NoteLastEval </a:t>
            </a:r>
          </a:p>
          <a:p>
            <a:pPr>
              <a:buFont typeface="Wingdings" pitchFamily="2" charset="2"/>
              <a:buChar char="è"/>
            </a:pPr>
            <a:r>
              <a:rPr lang="fr-FR" dirty="0">
                <a:sym typeface="Wingdings" pitchFamily="2" charset="2"/>
              </a:rPr>
              <a:t>Mesurer l’évolution de. L’évaluation de chaque salarié et son impact sur les démissions.</a:t>
            </a: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p:txBody>
      </p:sp>
    </p:spTree>
    <p:extLst>
      <p:ext uri="{BB962C8B-B14F-4D97-AF65-F5344CB8AC3E}">
        <p14:creationId xmlns:p14="http://schemas.microsoft.com/office/powerpoint/2010/main" val="164595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FA546-AFC1-310E-1882-AC529D455272}"/>
              </a:ext>
            </a:extLst>
          </p:cNvPr>
          <p:cNvSpPr>
            <a:spLocks noGrp="1"/>
          </p:cNvSpPr>
          <p:nvPr>
            <p:ph type="title"/>
          </p:nvPr>
        </p:nvSpPr>
        <p:spPr>
          <a:xfrm>
            <a:off x="777432" y="191181"/>
            <a:ext cx="10058400" cy="688495"/>
          </a:xfrm>
        </p:spPr>
        <p:txBody>
          <a:bodyPr>
            <a:normAutofit fontScale="90000"/>
          </a:bodyPr>
          <a:lstStyle/>
          <a:p>
            <a:pPr algn="ctr"/>
            <a:r>
              <a:rPr lang="fr-FR" dirty="0"/>
              <a:t>Modélisation</a:t>
            </a:r>
          </a:p>
        </p:txBody>
      </p:sp>
      <p:sp>
        <p:nvSpPr>
          <p:cNvPr id="3" name="Content Placeholder 2">
            <a:extLst>
              <a:ext uri="{FF2B5EF4-FFF2-40B4-BE49-F238E27FC236}">
                <a16:creationId xmlns:a16="http://schemas.microsoft.com/office/drawing/2014/main" id="{DDB2E340-6E82-B5F3-0210-51DC7CA47BE8}"/>
              </a:ext>
            </a:extLst>
          </p:cNvPr>
          <p:cNvSpPr>
            <a:spLocks noGrp="1"/>
          </p:cNvSpPr>
          <p:nvPr>
            <p:ph idx="1"/>
          </p:nvPr>
        </p:nvSpPr>
        <p:spPr>
          <a:xfrm>
            <a:off x="180373" y="1215348"/>
            <a:ext cx="6613967" cy="5289630"/>
          </a:xfrm>
        </p:spPr>
        <p:txBody>
          <a:bodyPr>
            <a:normAutofit fontScale="92500" lnSpcReduction="10000"/>
          </a:bodyPr>
          <a:lstStyle/>
          <a:p>
            <a:r>
              <a:rPr lang="fr-FR" dirty="0"/>
              <a:t>Dans le cadre de la modélisation nous entraînons 3différents modèles dont un model Benchmark. (Dummy Classifier, Logistic Regression et Random Forest).</a:t>
            </a:r>
          </a:p>
          <a:p>
            <a:pPr marL="0" indent="0">
              <a:buNone/>
            </a:pPr>
            <a:endParaRPr lang="fr-FR" dirty="0"/>
          </a:p>
          <a:p>
            <a:r>
              <a:rPr lang="fr-FR" dirty="0"/>
              <a:t>L’objectif est de trouver parmi ces modèles, celui ayant les meilleurs résultats.</a:t>
            </a:r>
          </a:p>
          <a:p>
            <a:pPr marL="0" indent="0">
              <a:buNone/>
            </a:pPr>
            <a:endParaRPr lang="fr-FR" dirty="0"/>
          </a:p>
          <a:p>
            <a:r>
              <a:rPr lang="fr-FR" dirty="0"/>
              <a:t>Pour notre cas, c’est le modèle Logistic Regression qui est le plus performant. Voici une explication de méthodologie de modélisation: </a:t>
            </a:r>
          </a:p>
          <a:p>
            <a:endParaRPr lang="fr-FR" dirty="0"/>
          </a:p>
          <a:p>
            <a:pPr>
              <a:buFontTx/>
              <a:buChar char="-"/>
            </a:pPr>
            <a:r>
              <a:rPr lang="fr-FR" dirty="0"/>
              <a:t>Séparation des variables X et y</a:t>
            </a:r>
          </a:p>
          <a:p>
            <a:pPr>
              <a:buFontTx/>
              <a:buChar char="-"/>
            </a:pPr>
            <a:endParaRPr lang="fr-FR" dirty="0"/>
          </a:p>
          <a:p>
            <a:pPr>
              <a:buFontTx/>
              <a:buChar char="-"/>
            </a:pPr>
            <a:r>
              <a:rPr lang="fr-FR" dirty="0"/>
              <a:t>Création de pipeline pour la transformation des données par catégorie ( Encodage, Scaling …)</a:t>
            </a:r>
          </a:p>
          <a:p>
            <a:pPr>
              <a:buFontTx/>
              <a:buChar char="-"/>
            </a:pPr>
            <a:endParaRPr lang="fr-FR" dirty="0"/>
          </a:p>
          <a:p>
            <a:pPr>
              <a:buFontTx/>
              <a:buChar char="-"/>
            </a:pPr>
            <a:r>
              <a:rPr lang="fr-FR" dirty="0"/>
              <a:t>Application des transformations via un Column Transformer</a:t>
            </a:r>
          </a:p>
          <a:p>
            <a:endParaRPr lang="fr-FR" dirty="0"/>
          </a:p>
          <a:p>
            <a:endParaRPr lang="fr-FR" dirty="0"/>
          </a:p>
        </p:txBody>
      </p:sp>
      <p:pic>
        <p:nvPicPr>
          <p:cNvPr id="4" name="Picture 3">
            <a:extLst>
              <a:ext uri="{FF2B5EF4-FFF2-40B4-BE49-F238E27FC236}">
                <a16:creationId xmlns:a16="http://schemas.microsoft.com/office/drawing/2014/main" id="{0A42CF7C-08C0-318E-ABF3-3528ECF7AD4E}"/>
              </a:ext>
            </a:extLst>
          </p:cNvPr>
          <p:cNvPicPr>
            <a:picLocks noChangeAspect="1"/>
          </p:cNvPicPr>
          <p:nvPr/>
        </p:nvPicPr>
        <p:blipFill>
          <a:blip r:embed="rId2"/>
          <a:stretch>
            <a:fillRect/>
          </a:stretch>
        </p:blipFill>
        <p:spPr>
          <a:xfrm>
            <a:off x="6747506" y="1307941"/>
            <a:ext cx="5444494" cy="4641448"/>
          </a:xfrm>
          <a:prstGeom prst="rect">
            <a:avLst/>
          </a:prstGeom>
        </p:spPr>
      </p:pic>
    </p:spTree>
    <p:extLst>
      <p:ext uri="{BB962C8B-B14F-4D97-AF65-F5344CB8AC3E}">
        <p14:creationId xmlns:p14="http://schemas.microsoft.com/office/powerpoint/2010/main" val="717199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42764D-6245-9859-A02E-FC2A52A3A6FB}"/>
              </a:ext>
            </a:extLst>
          </p:cNvPr>
          <p:cNvSpPr>
            <a:spLocks noGrp="1"/>
          </p:cNvSpPr>
          <p:nvPr>
            <p:ph idx="1"/>
          </p:nvPr>
        </p:nvSpPr>
        <p:spPr>
          <a:xfrm>
            <a:off x="405114" y="335666"/>
            <a:ext cx="10720086" cy="5699374"/>
          </a:xfrm>
        </p:spPr>
        <p:txBody>
          <a:bodyPr>
            <a:normAutofit/>
          </a:bodyPr>
          <a:lstStyle/>
          <a:p>
            <a:r>
              <a:rPr lang="fr-FR" dirty="0"/>
              <a:t>Nous créons ensuite un pipeline qui regroupe la partie preprocessing et le classifier (LR).</a:t>
            </a:r>
          </a:p>
          <a:p>
            <a:endParaRPr lang="fr-FR" dirty="0"/>
          </a:p>
          <a:p>
            <a:r>
              <a:rPr lang="fr-FR" dirty="0"/>
              <a:t>Point d’attention : Nous avons un dataset déséquilibré (démission = 16%). Nous devons faire une validation croisée avec stratification afin de neutraliser l’effet de ce déséquilibre des classes.</a:t>
            </a:r>
          </a:p>
          <a:p>
            <a:r>
              <a:rPr lang="fr-FR" dirty="0"/>
              <a:t>Les résultats de la validation croisée permettent  de comparer les modèles et d’identifier le plus performant d’entre eux. Ils permettent également de détecter le sur-apprentissage.</a:t>
            </a:r>
          </a:p>
          <a:p>
            <a:r>
              <a:rPr lang="fr-FR" dirty="0"/>
              <a:t>Exemple : </a:t>
            </a:r>
          </a:p>
          <a:p>
            <a:endParaRPr lang="fr-FR" dirty="0"/>
          </a:p>
          <a:p>
            <a:endParaRPr lang="fr-FR" dirty="0"/>
          </a:p>
          <a:p>
            <a:endParaRPr lang="fr-FR" dirty="0"/>
          </a:p>
        </p:txBody>
      </p:sp>
      <p:graphicFrame>
        <p:nvGraphicFramePr>
          <p:cNvPr id="6" name="Table 5">
            <a:extLst>
              <a:ext uri="{FF2B5EF4-FFF2-40B4-BE49-F238E27FC236}">
                <a16:creationId xmlns:a16="http://schemas.microsoft.com/office/drawing/2014/main" id="{6CFB9145-2248-2E1A-9BB9-9EBBECB68DEC}"/>
              </a:ext>
            </a:extLst>
          </p:cNvPr>
          <p:cNvGraphicFramePr>
            <a:graphicFrameLocks noGrp="1"/>
          </p:cNvGraphicFramePr>
          <p:nvPr>
            <p:extLst>
              <p:ext uri="{D42A27DB-BD31-4B8C-83A1-F6EECF244321}">
                <p14:modId xmlns:p14="http://schemas.microsoft.com/office/powerpoint/2010/main" val="571674237"/>
              </p:ext>
            </p:extLst>
          </p:nvPr>
        </p:nvGraphicFramePr>
        <p:xfrm>
          <a:off x="3287212" y="3268691"/>
          <a:ext cx="4433104" cy="2395275"/>
        </p:xfrm>
        <a:graphic>
          <a:graphicData uri="http://schemas.openxmlformats.org/drawingml/2006/table">
            <a:tbl>
              <a:tblPr firstRow="1" bandRow="1">
                <a:tableStyleId>{2A488322-F2BA-4B5B-9748-0D474271808F}</a:tableStyleId>
              </a:tblPr>
              <a:tblGrid>
                <a:gridCol w="1904196">
                  <a:extLst>
                    <a:ext uri="{9D8B030D-6E8A-4147-A177-3AD203B41FA5}">
                      <a16:colId xmlns:a16="http://schemas.microsoft.com/office/drawing/2014/main" val="4168689758"/>
                    </a:ext>
                  </a:extLst>
                </a:gridCol>
                <a:gridCol w="920026">
                  <a:extLst>
                    <a:ext uri="{9D8B030D-6E8A-4147-A177-3AD203B41FA5}">
                      <a16:colId xmlns:a16="http://schemas.microsoft.com/office/drawing/2014/main" val="3495231615"/>
                    </a:ext>
                  </a:extLst>
                </a:gridCol>
                <a:gridCol w="787079">
                  <a:extLst>
                    <a:ext uri="{9D8B030D-6E8A-4147-A177-3AD203B41FA5}">
                      <a16:colId xmlns:a16="http://schemas.microsoft.com/office/drawing/2014/main" val="3050205717"/>
                    </a:ext>
                  </a:extLst>
                </a:gridCol>
                <a:gridCol w="821803">
                  <a:extLst>
                    <a:ext uri="{9D8B030D-6E8A-4147-A177-3AD203B41FA5}">
                      <a16:colId xmlns:a16="http://schemas.microsoft.com/office/drawing/2014/main" val="3352512231"/>
                    </a:ext>
                  </a:extLst>
                </a:gridCol>
              </a:tblGrid>
              <a:tr h="0">
                <a:tc>
                  <a:txBody>
                    <a:bodyPr/>
                    <a:lstStyle/>
                    <a:p>
                      <a:endParaRPr lang="fr-FR" dirty="0"/>
                    </a:p>
                  </a:txBody>
                  <a:tcPr/>
                </a:tc>
                <a:tc>
                  <a:txBody>
                    <a:bodyPr/>
                    <a:lstStyle/>
                    <a:p>
                      <a:pPr algn="ctr"/>
                      <a:r>
                        <a:rPr lang="fr-FR" dirty="0"/>
                        <a:t>DMC</a:t>
                      </a:r>
                    </a:p>
                  </a:txBody>
                  <a:tcPr/>
                </a:tc>
                <a:tc>
                  <a:txBody>
                    <a:bodyPr/>
                    <a:lstStyle/>
                    <a:p>
                      <a:pPr algn="ctr"/>
                      <a:r>
                        <a:rPr lang="fr-FR" b="1" dirty="0"/>
                        <a:t>LR</a:t>
                      </a:r>
                    </a:p>
                  </a:txBody>
                  <a:tcPr/>
                </a:tc>
                <a:tc>
                  <a:txBody>
                    <a:bodyPr/>
                    <a:lstStyle/>
                    <a:p>
                      <a:pPr algn="ctr"/>
                      <a:r>
                        <a:rPr lang="fr-FR" dirty="0"/>
                        <a:t>RF</a:t>
                      </a:r>
                    </a:p>
                  </a:txBody>
                  <a:tcPr/>
                </a:tc>
                <a:extLst>
                  <a:ext uri="{0D108BD9-81ED-4DB2-BD59-A6C34878D82A}">
                    <a16:rowId xmlns:a16="http://schemas.microsoft.com/office/drawing/2014/main" val="2252018954"/>
                  </a:ext>
                </a:extLst>
              </a:tr>
              <a:tr h="327564">
                <a:tc>
                  <a:txBody>
                    <a:bodyPr/>
                    <a:lstStyle/>
                    <a:p>
                      <a:r>
                        <a:rPr lang="en-US" sz="1200" b="1" dirty="0"/>
                        <a:t>Precision moyen (train) </a:t>
                      </a:r>
                      <a:endParaRPr lang="fr-FR" sz="1200" b="1" dirty="0"/>
                    </a:p>
                  </a:txBody>
                  <a:tcPr/>
                </a:tc>
                <a:tc>
                  <a:txBody>
                    <a:bodyPr/>
                    <a:lstStyle/>
                    <a:p>
                      <a:r>
                        <a:rPr lang="en-US" sz="1200" dirty="0"/>
                        <a:t>0.156</a:t>
                      </a:r>
                      <a:endParaRPr lang="fr-FR" sz="1200" dirty="0"/>
                    </a:p>
                  </a:txBody>
                  <a:tcPr/>
                </a:tc>
                <a:tc>
                  <a:txBody>
                    <a:bodyPr/>
                    <a:lstStyle/>
                    <a:p>
                      <a:r>
                        <a:rPr lang="en-US" sz="1200" b="1" dirty="0"/>
                        <a:t>0.432</a:t>
                      </a:r>
                      <a:endParaRPr lang="fr-FR" sz="1200" b="1" dirty="0"/>
                    </a:p>
                  </a:txBody>
                  <a:tcPr/>
                </a:tc>
                <a:tc>
                  <a:txBody>
                    <a:bodyPr/>
                    <a:lstStyle/>
                    <a:p>
                      <a:r>
                        <a:rPr lang="fr-FR" sz="1200" dirty="0"/>
                        <a:t>1</a:t>
                      </a:r>
                    </a:p>
                  </a:txBody>
                  <a:tcPr/>
                </a:tc>
                <a:extLst>
                  <a:ext uri="{0D108BD9-81ED-4DB2-BD59-A6C34878D82A}">
                    <a16:rowId xmlns:a16="http://schemas.microsoft.com/office/drawing/2014/main" val="303447564"/>
                  </a:ext>
                </a:extLst>
              </a:tr>
              <a:tr h="269390">
                <a:tc>
                  <a:txBody>
                    <a:bodyPr/>
                    <a:lstStyle/>
                    <a:p>
                      <a:r>
                        <a:rPr lang="en-US" sz="1200" b="1" dirty="0"/>
                        <a:t>Precision moyen (test) </a:t>
                      </a:r>
                      <a:endParaRPr lang="fr-FR" sz="1200" b="1" dirty="0"/>
                    </a:p>
                  </a:txBody>
                  <a:tcPr/>
                </a:tc>
                <a:tc>
                  <a:txBody>
                    <a:bodyPr/>
                    <a:lstStyle/>
                    <a:p>
                      <a:r>
                        <a:rPr lang="en-US" sz="1200" dirty="0"/>
                        <a:t>0.175</a:t>
                      </a:r>
                      <a:endParaRPr lang="fr-FR" sz="1200" dirty="0"/>
                    </a:p>
                  </a:txBody>
                  <a:tcPr/>
                </a:tc>
                <a:tc>
                  <a:txBody>
                    <a:bodyPr/>
                    <a:lstStyle/>
                    <a:p>
                      <a:r>
                        <a:rPr lang="en-US" sz="1200" b="1" dirty="0"/>
                        <a:t>0.407</a:t>
                      </a:r>
                      <a:endParaRPr lang="fr-FR" sz="1200" b="1" dirty="0"/>
                    </a:p>
                  </a:txBody>
                  <a:tcPr/>
                </a:tc>
                <a:tc>
                  <a:txBody>
                    <a:bodyPr/>
                    <a:lstStyle/>
                    <a:p>
                      <a:r>
                        <a:rPr lang="en-US" sz="1200" dirty="0"/>
                        <a:t>0.904</a:t>
                      </a:r>
                      <a:endParaRPr lang="fr-FR" sz="1200" dirty="0"/>
                    </a:p>
                  </a:txBody>
                  <a:tcPr/>
                </a:tc>
                <a:extLst>
                  <a:ext uri="{0D108BD9-81ED-4DB2-BD59-A6C34878D82A}">
                    <a16:rowId xmlns:a16="http://schemas.microsoft.com/office/drawing/2014/main" val="1724124222"/>
                  </a:ext>
                </a:extLst>
              </a:tr>
              <a:tr h="327821">
                <a:tc>
                  <a:txBody>
                    <a:bodyPr/>
                    <a:lstStyle/>
                    <a:p>
                      <a:r>
                        <a:rPr lang="en-US" sz="1200" b="1" dirty="0"/>
                        <a:t>Recall moyen (train) </a:t>
                      </a:r>
                      <a:endParaRPr lang="fr-FR" sz="1200" b="1" dirty="0"/>
                    </a:p>
                  </a:txBody>
                  <a:tcPr/>
                </a:tc>
                <a:tc>
                  <a:txBody>
                    <a:bodyPr/>
                    <a:lstStyle/>
                    <a:p>
                      <a:r>
                        <a:rPr lang="en-US" sz="1200" dirty="0"/>
                        <a:t>0.163</a:t>
                      </a:r>
                      <a:endParaRPr lang="fr-FR" sz="1200" dirty="0"/>
                    </a:p>
                  </a:txBody>
                  <a:tcPr/>
                </a:tc>
                <a:tc>
                  <a:txBody>
                    <a:bodyPr/>
                    <a:lstStyle/>
                    <a:p>
                      <a:r>
                        <a:rPr lang="en-US" sz="1200" b="1" dirty="0"/>
                        <a:t>0.822</a:t>
                      </a:r>
                      <a:endParaRPr lang="fr-FR" sz="1200" b="1" dirty="0"/>
                    </a:p>
                  </a:txBody>
                  <a:tcPr/>
                </a:tc>
                <a:tc>
                  <a:txBody>
                    <a:bodyPr/>
                    <a:lstStyle/>
                    <a:p>
                      <a:r>
                        <a:rPr lang="fr-FR" sz="1200" dirty="0"/>
                        <a:t>1</a:t>
                      </a:r>
                    </a:p>
                  </a:txBody>
                  <a:tcPr/>
                </a:tc>
                <a:extLst>
                  <a:ext uri="{0D108BD9-81ED-4DB2-BD59-A6C34878D82A}">
                    <a16:rowId xmlns:a16="http://schemas.microsoft.com/office/drawing/2014/main" val="1254842490"/>
                  </a:ext>
                </a:extLst>
              </a:tr>
              <a:tr h="297727">
                <a:tc>
                  <a:txBody>
                    <a:bodyPr/>
                    <a:lstStyle/>
                    <a:p>
                      <a:r>
                        <a:rPr lang="en-US" sz="1200" b="1" dirty="0"/>
                        <a:t>Recall moyen (test) </a:t>
                      </a:r>
                      <a:endParaRPr lang="fr-FR" sz="1200" b="1" dirty="0"/>
                    </a:p>
                  </a:txBody>
                  <a:tcPr/>
                </a:tc>
                <a:tc>
                  <a:txBody>
                    <a:bodyPr/>
                    <a:lstStyle/>
                    <a:p>
                      <a:r>
                        <a:rPr lang="en-US" sz="1200" dirty="0"/>
                        <a:t>0.181</a:t>
                      </a:r>
                      <a:endParaRPr lang="fr-FR" sz="1200" dirty="0"/>
                    </a:p>
                  </a:txBody>
                  <a:tcPr/>
                </a:tc>
                <a:tc>
                  <a:txBody>
                    <a:bodyPr/>
                    <a:lstStyle/>
                    <a:p>
                      <a:r>
                        <a:rPr lang="en-US" sz="1200" b="1" dirty="0"/>
                        <a:t>0.763</a:t>
                      </a:r>
                      <a:endParaRPr lang="fr-FR" sz="1200" b="1" dirty="0"/>
                    </a:p>
                  </a:txBody>
                  <a:tcPr/>
                </a:tc>
                <a:tc>
                  <a:txBody>
                    <a:bodyPr/>
                    <a:lstStyle/>
                    <a:p>
                      <a:r>
                        <a:rPr lang="en-US" sz="1200" dirty="0"/>
                        <a:t>0.122</a:t>
                      </a:r>
                      <a:endParaRPr lang="fr-FR" sz="1200" dirty="0"/>
                    </a:p>
                  </a:txBody>
                  <a:tcPr/>
                </a:tc>
                <a:extLst>
                  <a:ext uri="{0D108BD9-81ED-4DB2-BD59-A6C34878D82A}">
                    <a16:rowId xmlns:a16="http://schemas.microsoft.com/office/drawing/2014/main" val="1100605959"/>
                  </a:ext>
                </a:extLst>
              </a:tr>
              <a:tr h="337081">
                <a:tc>
                  <a:txBody>
                    <a:bodyPr/>
                    <a:lstStyle/>
                    <a:p>
                      <a:r>
                        <a:rPr lang="en-US" sz="1200" b="1" dirty="0"/>
                        <a:t>F1 score moyen (train) </a:t>
                      </a:r>
                      <a:endParaRPr lang="fr-FR" sz="1200" b="1" dirty="0"/>
                    </a:p>
                  </a:txBody>
                  <a:tcPr/>
                </a:tc>
                <a:tc>
                  <a:txBody>
                    <a:bodyPr/>
                    <a:lstStyle/>
                    <a:p>
                      <a:r>
                        <a:rPr lang="en-US" sz="1200" dirty="0"/>
                        <a:t>0.159</a:t>
                      </a:r>
                      <a:endParaRPr lang="fr-FR" sz="1200" dirty="0"/>
                    </a:p>
                  </a:txBody>
                  <a:tcPr/>
                </a:tc>
                <a:tc>
                  <a:txBody>
                    <a:bodyPr/>
                    <a:lstStyle/>
                    <a:p>
                      <a:r>
                        <a:rPr lang="en-US" sz="1200" b="1" dirty="0"/>
                        <a:t>0.566</a:t>
                      </a:r>
                      <a:endParaRPr lang="fr-FR" sz="1200" b="1" dirty="0"/>
                    </a:p>
                  </a:txBody>
                  <a:tcPr/>
                </a:tc>
                <a:tc>
                  <a:txBody>
                    <a:bodyPr/>
                    <a:lstStyle/>
                    <a:p>
                      <a:r>
                        <a:rPr lang="fr-FR" sz="1200" dirty="0"/>
                        <a:t>1</a:t>
                      </a:r>
                    </a:p>
                  </a:txBody>
                  <a:tcPr/>
                </a:tc>
                <a:extLst>
                  <a:ext uri="{0D108BD9-81ED-4DB2-BD59-A6C34878D82A}">
                    <a16:rowId xmlns:a16="http://schemas.microsoft.com/office/drawing/2014/main" val="2117578090"/>
                  </a:ext>
                </a:extLst>
              </a:tr>
              <a:tr h="465002">
                <a:tc>
                  <a:txBody>
                    <a:bodyPr/>
                    <a:lstStyle/>
                    <a:p>
                      <a:r>
                        <a:rPr lang="en-US" sz="1200" b="1" dirty="0"/>
                        <a:t>F1 score moyen (test) </a:t>
                      </a:r>
                      <a:endParaRPr lang="fr-FR" sz="1200" b="1" dirty="0"/>
                    </a:p>
                  </a:txBody>
                  <a:tcPr/>
                </a:tc>
                <a:tc>
                  <a:txBody>
                    <a:bodyPr/>
                    <a:lstStyle/>
                    <a:p>
                      <a:r>
                        <a:rPr lang="en-US" sz="1200" dirty="0"/>
                        <a:t>0.178</a:t>
                      </a:r>
                      <a:endParaRPr lang="fr-FR" sz="1200" dirty="0"/>
                    </a:p>
                  </a:txBody>
                  <a:tcPr/>
                </a:tc>
                <a:tc>
                  <a:txBody>
                    <a:bodyPr/>
                    <a:lstStyle/>
                    <a:p>
                      <a:r>
                        <a:rPr lang="en-US" sz="1200" b="1" dirty="0"/>
                        <a:t>0.530</a:t>
                      </a:r>
                      <a:endParaRPr lang="fr-FR" sz="1200" b="1" dirty="0"/>
                    </a:p>
                  </a:txBody>
                  <a:tcPr/>
                </a:tc>
                <a:tc>
                  <a:txBody>
                    <a:bodyPr/>
                    <a:lstStyle/>
                    <a:p>
                      <a:r>
                        <a:rPr lang="en-US" sz="1200" dirty="0"/>
                        <a:t>0.21</a:t>
                      </a:r>
                      <a:endParaRPr lang="fr-FR" sz="1200" dirty="0"/>
                    </a:p>
                  </a:txBody>
                  <a:tcPr/>
                </a:tc>
                <a:extLst>
                  <a:ext uri="{0D108BD9-81ED-4DB2-BD59-A6C34878D82A}">
                    <a16:rowId xmlns:a16="http://schemas.microsoft.com/office/drawing/2014/main" val="1486379071"/>
                  </a:ext>
                </a:extLst>
              </a:tr>
            </a:tbl>
          </a:graphicData>
        </a:graphic>
      </p:graphicFrame>
    </p:spTree>
    <p:extLst>
      <p:ext uri="{BB962C8B-B14F-4D97-AF65-F5344CB8AC3E}">
        <p14:creationId xmlns:p14="http://schemas.microsoft.com/office/powerpoint/2010/main" val="1133371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14584-DB68-AF49-0E28-13893CEEDD28}"/>
              </a:ext>
            </a:extLst>
          </p:cNvPr>
          <p:cNvSpPr>
            <a:spLocks noGrp="1"/>
          </p:cNvSpPr>
          <p:nvPr>
            <p:ph idx="1"/>
          </p:nvPr>
        </p:nvSpPr>
        <p:spPr>
          <a:xfrm>
            <a:off x="300941" y="371547"/>
            <a:ext cx="6065136" cy="6114906"/>
          </a:xfrm>
        </p:spPr>
        <p:txBody>
          <a:bodyPr>
            <a:normAutofit fontScale="85000" lnSpcReduction="20000"/>
          </a:bodyPr>
          <a:lstStyle/>
          <a:p>
            <a:r>
              <a:rPr lang="fr-FR" noProof="0" dirty="0"/>
              <a:t>Voici les prédictions avec le model retenu LR : </a:t>
            </a:r>
          </a:p>
          <a:p>
            <a:pPr marL="0" indent="0">
              <a:buNone/>
            </a:pPr>
            <a:r>
              <a:rPr lang="fr-FR" noProof="0" dirty="0"/>
              <a:t>Les vrais démissionnaires sont de: 181</a:t>
            </a:r>
          </a:p>
          <a:p>
            <a:pPr marL="0" indent="0">
              <a:buNone/>
            </a:pPr>
            <a:r>
              <a:rPr lang="fr-FR" noProof="0" dirty="0"/>
              <a:t>Les vrais restants sont de: 970</a:t>
            </a:r>
          </a:p>
          <a:p>
            <a:pPr marL="0" indent="0">
              <a:buNone/>
            </a:pPr>
            <a:r>
              <a:rPr lang="fr-FR" noProof="0" dirty="0"/>
              <a:t>Les faux démissionnaires sont de: 263 ceux là vont donc</a:t>
            </a:r>
            <a:br>
              <a:rPr lang="fr-FR" noProof="0" dirty="0"/>
            </a:br>
            <a:r>
              <a:rPr lang="fr-FR" noProof="0" dirty="0"/>
              <a:t>rester dans l'entreprise</a:t>
            </a:r>
          </a:p>
          <a:p>
            <a:pPr marL="0" indent="0">
              <a:buNone/>
            </a:pPr>
            <a:r>
              <a:rPr lang="fr-FR" noProof="0" dirty="0"/>
              <a:t>Les faux restants sont de: 56 ceux là vont donc QUITTER l'entreprise</a:t>
            </a:r>
          </a:p>
          <a:p>
            <a:endParaRPr lang="fr-FR" noProof="0" dirty="0"/>
          </a:p>
          <a:p>
            <a:pPr marL="0" indent="0">
              <a:buNone/>
            </a:pPr>
            <a:endParaRPr lang="fr-FR" noProof="0" dirty="0"/>
          </a:p>
          <a:p>
            <a:r>
              <a:rPr lang="fr-FR" noProof="0" dirty="0"/>
              <a:t>Pour le modèle de Régression Logistiques nous constatons les faits suivants :</a:t>
            </a:r>
          </a:p>
          <a:p>
            <a:r>
              <a:rPr lang="fr-FR" noProof="0" dirty="0"/>
              <a:t>Les scores sont légèrement plus bas en Test qu'en Train : Le modèle généralise plutôt bien, mais il </a:t>
            </a:r>
            <a:r>
              <a:rPr lang="fr-FR" noProof="0" dirty="0" err="1"/>
              <a:t>ya</a:t>
            </a:r>
            <a:r>
              <a:rPr lang="fr-FR" noProof="0" dirty="0"/>
              <a:t> peut-être un léger sur-apprentissage ?</a:t>
            </a:r>
          </a:p>
          <a:p>
            <a:r>
              <a:rPr lang="fr-FR" b="1" noProof="0" dirty="0"/>
              <a:t>Précision</a:t>
            </a:r>
            <a:r>
              <a:rPr lang="fr-FR" noProof="0" dirty="0"/>
              <a:t> détecte 95% des restants et 41% des démissionnaires Nous détectons donc bien les TN, et le modèle rate très peu de FP (faux démissionnaires).</a:t>
            </a:r>
          </a:p>
          <a:p>
            <a:r>
              <a:rPr lang="fr-FR" b="1" noProof="0" dirty="0"/>
              <a:t>Recall</a:t>
            </a:r>
            <a:r>
              <a:rPr lang="fr-FR" noProof="0" dirty="0"/>
              <a:t> détecte 79% des restants, et 76% des démissionnaires, la classe qui nous intéresse le plus. le recall nous permet donc de détecter un grand nombres des démissions.</a:t>
            </a:r>
          </a:p>
          <a:p>
            <a:r>
              <a:rPr lang="fr-FR" b="1" noProof="0" dirty="0"/>
              <a:t>F1_score</a:t>
            </a:r>
            <a:r>
              <a:rPr lang="fr-FR" noProof="0" dirty="0"/>
              <a:t> est très bien pour les restants 0,86% , et il est de 53% pour les démissionnaires, cela reste quand même raisonnable pour une classe minoritaire dont on cherche la maximisation du recall. il mériterait d'être amélioré.</a:t>
            </a:r>
          </a:p>
          <a:p>
            <a:endParaRPr lang="fr-FR" noProof="0" dirty="0"/>
          </a:p>
        </p:txBody>
      </p:sp>
      <p:pic>
        <p:nvPicPr>
          <p:cNvPr id="5" name="Picture 4">
            <a:extLst>
              <a:ext uri="{FF2B5EF4-FFF2-40B4-BE49-F238E27FC236}">
                <a16:creationId xmlns:a16="http://schemas.microsoft.com/office/drawing/2014/main" id="{0FB74E90-233E-1379-4494-AA8672F149B5}"/>
              </a:ext>
            </a:extLst>
          </p:cNvPr>
          <p:cNvPicPr>
            <a:picLocks noChangeAspect="1"/>
          </p:cNvPicPr>
          <p:nvPr/>
        </p:nvPicPr>
        <p:blipFill>
          <a:blip r:embed="rId2"/>
          <a:stretch>
            <a:fillRect/>
          </a:stretch>
        </p:blipFill>
        <p:spPr>
          <a:xfrm>
            <a:off x="7189417" y="2789045"/>
            <a:ext cx="4701643" cy="3697408"/>
          </a:xfrm>
          <a:prstGeom prst="rect">
            <a:avLst/>
          </a:prstGeom>
        </p:spPr>
      </p:pic>
      <p:pic>
        <p:nvPicPr>
          <p:cNvPr id="6" name="Picture 5">
            <a:extLst>
              <a:ext uri="{FF2B5EF4-FFF2-40B4-BE49-F238E27FC236}">
                <a16:creationId xmlns:a16="http://schemas.microsoft.com/office/drawing/2014/main" id="{9B0B69FB-49DF-C119-CBF6-0E034CFE57CF}"/>
              </a:ext>
            </a:extLst>
          </p:cNvPr>
          <p:cNvPicPr>
            <a:picLocks noChangeAspect="1"/>
          </p:cNvPicPr>
          <p:nvPr/>
        </p:nvPicPr>
        <p:blipFill>
          <a:blip r:embed="rId3"/>
          <a:stretch>
            <a:fillRect/>
          </a:stretch>
        </p:blipFill>
        <p:spPr>
          <a:xfrm>
            <a:off x="6096000" y="538896"/>
            <a:ext cx="5803900" cy="2082800"/>
          </a:xfrm>
          <a:prstGeom prst="rect">
            <a:avLst/>
          </a:prstGeom>
        </p:spPr>
      </p:pic>
    </p:spTree>
    <p:extLst>
      <p:ext uri="{BB962C8B-B14F-4D97-AF65-F5344CB8AC3E}">
        <p14:creationId xmlns:p14="http://schemas.microsoft.com/office/powerpoint/2010/main" val="1662567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3F1B19-AE80-6E03-227A-397498298C4E}"/>
              </a:ext>
            </a:extLst>
          </p:cNvPr>
          <p:cNvSpPr>
            <a:spLocks noGrp="1"/>
          </p:cNvSpPr>
          <p:nvPr>
            <p:ph idx="1"/>
          </p:nvPr>
        </p:nvSpPr>
        <p:spPr>
          <a:xfrm>
            <a:off x="335665" y="1"/>
            <a:ext cx="10766385" cy="2905246"/>
          </a:xfrm>
        </p:spPr>
        <p:txBody>
          <a:bodyPr>
            <a:normAutofit fontScale="85000" lnSpcReduction="20000"/>
          </a:bodyPr>
          <a:lstStyle/>
          <a:p>
            <a:pPr marL="0" indent="0">
              <a:buNone/>
            </a:pPr>
            <a:endParaRPr lang="fr-FR" dirty="0"/>
          </a:p>
          <a:p>
            <a:r>
              <a:rPr lang="fr-FR" dirty="0"/>
              <a:t>La courbe PR ci-dessous montre la performance à chaque seuil de probabilité.</a:t>
            </a:r>
          </a:p>
          <a:p>
            <a:r>
              <a:rPr lang="fr-FR" dirty="0"/>
              <a:t>on voit que plus on augmente le seuil pour le recall, la précision chute.</a:t>
            </a:r>
          </a:p>
          <a:p>
            <a:r>
              <a:rPr lang="fr-FR" dirty="0"/>
              <a:t>Cela veut dire que si on maximise le recall pour ne pas rater les démissions, on aura en revanche une mauvaise précision et donc beaucoup de faux positifs ( cad détectés comme démissionnaires alors qu'ils sont restants ).</a:t>
            </a:r>
          </a:p>
          <a:p>
            <a:r>
              <a:rPr lang="fr-FR" dirty="0"/>
              <a:t>AUC ROC = 0.84 : Cela signifie que le modèle a 84% de chances de classer correctement les positifs.</a:t>
            </a:r>
            <a:br>
              <a:rPr lang="fr-FR" dirty="0"/>
            </a:br>
            <a:endParaRPr lang="fr-FR" dirty="0"/>
          </a:p>
          <a:p>
            <a:r>
              <a:rPr lang="fr-FR" dirty="0"/>
              <a:t>Nous constatons également que AUC de la courbe ROC est supérieur à celui de la courbe PR. Mais n'oublions pas que lorsque les classes sont déséquilibrées, ROC peut donner une fausse impression de performance. Donc cet indicateur n'est pas suffisant dans notre cas.</a:t>
            </a:r>
            <a:br>
              <a:rPr lang="fr-FR" dirty="0"/>
            </a:br>
            <a:br>
              <a:rPr lang="fr-FR" dirty="0"/>
            </a:br>
            <a:endParaRPr lang="fr-FR" dirty="0"/>
          </a:p>
          <a:p>
            <a:endParaRPr lang="fr-FR" dirty="0"/>
          </a:p>
        </p:txBody>
      </p:sp>
      <p:pic>
        <p:nvPicPr>
          <p:cNvPr id="5" name="Picture 4">
            <a:extLst>
              <a:ext uri="{FF2B5EF4-FFF2-40B4-BE49-F238E27FC236}">
                <a16:creationId xmlns:a16="http://schemas.microsoft.com/office/drawing/2014/main" id="{D2D732A4-FCD3-86AF-3BAD-1FD7C8620350}"/>
              </a:ext>
            </a:extLst>
          </p:cNvPr>
          <p:cNvPicPr>
            <a:picLocks noChangeAspect="1"/>
          </p:cNvPicPr>
          <p:nvPr/>
        </p:nvPicPr>
        <p:blipFill>
          <a:blip r:embed="rId2"/>
          <a:stretch>
            <a:fillRect/>
          </a:stretch>
        </p:blipFill>
        <p:spPr>
          <a:xfrm>
            <a:off x="1422720" y="2569582"/>
            <a:ext cx="8851996" cy="3171463"/>
          </a:xfrm>
          <a:prstGeom prst="rect">
            <a:avLst/>
          </a:prstGeom>
        </p:spPr>
      </p:pic>
      <p:sp>
        <p:nvSpPr>
          <p:cNvPr id="6" name="TextBox 5">
            <a:extLst>
              <a:ext uri="{FF2B5EF4-FFF2-40B4-BE49-F238E27FC236}">
                <a16:creationId xmlns:a16="http://schemas.microsoft.com/office/drawing/2014/main" id="{84CDF8E3-E8C4-9177-7231-EFFEC7755D3C}"/>
              </a:ext>
            </a:extLst>
          </p:cNvPr>
          <p:cNvSpPr txBox="1"/>
          <p:nvPr/>
        </p:nvSpPr>
        <p:spPr>
          <a:xfrm>
            <a:off x="532440" y="5903092"/>
            <a:ext cx="10766385" cy="646331"/>
          </a:xfrm>
          <a:prstGeom prst="rect">
            <a:avLst/>
          </a:prstGeom>
          <a:noFill/>
        </p:spPr>
        <p:txBody>
          <a:bodyPr wrap="square" rtlCol="0">
            <a:spAutoFit/>
          </a:bodyPr>
          <a:lstStyle/>
          <a:p>
            <a:pPr algn="ctr"/>
            <a:r>
              <a:rPr lang="fr-FR" dirty="0"/>
              <a:t>Nous ajusterons le seuil de probabilité de notre model en fonction des choix stratégiques de l’entreprise.</a:t>
            </a:r>
          </a:p>
        </p:txBody>
      </p:sp>
    </p:spTree>
    <p:extLst>
      <p:ext uri="{BB962C8B-B14F-4D97-AF65-F5344CB8AC3E}">
        <p14:creationId xmlns:p14="http://schemas.microsoft.com/office/powerpoint/2010/main" val="3571383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D9246-091E-721B-287B-7D1E44164980}"/>
              </a:ext>
            </a:extLst>
          </p:cNvPr>
          <p:cNvSpPr>
            <a:spLocks noGrp="1"/>
          </p:cNvSpPr>
          <p:nvPr>
            <p:ph type="title"/>
          </p:nvPr>
        </p:nvSpPr>
        <p:spPr>
          <a:xfrm>
            <a:off x="898000" y="491924"/>
            <a:ext cx="10058400" cy="758142"/>
          </a:xfrm>
        </p:spPr>
        <p:txBody>
          <a:bodyPr/>
          <a:lstStyle/>
          <a:p>
            <a:r>
              <a:rPr lang="fr-FR" dirty="0"/>
              <a:t>Optimisation du modèle </a:t>
            </a:r>
          </a:p>
        </p:txBody>
      </p:sp>
      <p:sp>
        <p:nvSpPr>
          <p:cNvPr id="3" name="Content Placeholder 2">
            <a:extLst>
              <a:ext uri="{FF2B5EF4-FFF2-40B4-BE49-F238E27FC236}">
                <a16:creationId xmlns:a16="http://schemas.microsoft.com/office/drawing/2014/main" id="{84487DC9-2E07-BF36-6954-2F4CD2F970BF}"/>
              </a:ext>
            </a:extLst>
          </p:cNvPr>
          <p:cNvSpPr>
            <a:spLocks noGrp="1"/>
          </p:cNvSpPr>
          <p:nvPr>
            <p:ph idx="1"/>
          </p:nvPr>
        </p:nvSpPr>
        <p:spPr>
          <a:xfrm>
            <a:off x="372316" y="1331089"/>
            <a:ext cx="11109767" cy="5254906"/>
          </a:xfrm>
        </p:spPr>
        <p:txBody>
          <a:bodyPr/>
          <a:lstStyle/>
          <a:p>
            <a:endParaRPr lang="fr-FR" dirty="0"/>
          </a:p>
          <a:p>
            <a:r>
              <a:rPr lang="fr-FR" dirty="0"/>
              <a:t>Nous avons appliqué un Grid Search pour obtenir les meilleurs paramètres du modèle afin d’améliorer sa performance.</a:t>
            </a:r>
          </a:p>
          <a:p>
            <a:endParaRPr lang="fr-FR" dirty="0"/>
          </a:p>
          <a:p>
            <a:r>
              <a:rPr lang="fr-FR" dirty="0"/>
              <a:t>En revanche, les paramètres obtenus n’ont pas eu d’effet notable sur la performance du modèle.</a:t>
            </a:r>
          </a:p>
          <a:p>
            <a:endParaRPr lang="fr-FR" dirty="0"/>
          </a:p>
          <a:p>
            <a:r>
              <a:rPr lang="fr-FR" dirty="0"/>
              <a:t>Notre modèle est déjà au maximum de sa performance.</a:t>
            </a:r>
          </a:p>
        </p:txBody>
      </p:sp>
    </p:spTree>
    <p:extLst>
      <p:ext uri="{BB962C8B-B14F-4D97-AF65-F5344CB8AC3E}">
        <p14:creationId xmlns:p14="http://schemas.microsoft.com/office/powerpoint/2010/main" val="3368739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DE76C-7AA7-1BB9-0E74-CF73BA42F67D}"/>
              </a:ext>
            </a:extLst>
          </p:cNvPr>
          <p:cNvSpPr>
            <a:spLocks noGrp="1"/>
          </p:cNvSpPr>
          <p:nvPr>
            <p:ph type="title"/>
          </p:nvPr>
        </p:nvSpPr>
        <p:spPr>
          <a:xfrm>
            <a:off x="696411" y="266217"/>
            <a:ext cx="10058400" cy="931762"/>
          </a:xfrm>
        </p:spPr>
        <p:txBody>
          <a:bodyPr/>
          <a:lstStyle/>
          <a:p>
            <a:r>
              <a:rPr lang="fr-FR" dirty="0"/>
              <a:t>Feature Importance</a:t>
            </a:r>
          </a:p>
        </p:txBody>
      </p:sp>
      <p:sp>
        <p:nvSpPr>
          <p:cNvPr id="3" name="Content Placeholder 2">
            <a:extLst>
              <a:ext uri="{FF2B5EF4-FFF2-40B4-BE49-F238E27FC236}">
                <a16:creationId xmlns:a16="http://schemas.microsoft.com/office/drawing/2014/main" id="{60C3226E-B802-F137-430B-40674D487079}"/>
              </a:ext>
            </a:extLst>
          </p:cNvPr>
          <p:cNvSpPr>
            <a:spLocks noGrp="1"/>
          </p:cNvSpPr>
          <p:nvPr>
            <p:ph idx="1"/>
          </p:nvPr>
        </p:nvSpPr>
        <p:spPr>
          <a:xfrm>
            <a:off x="358815" y="1197979"/>
            <a:ext cx="10766385" cy="4837061"/>
          </a:xfrm>
        </p:spPr>
        <p:txBody>
          <a:bodyPr/>
          <a:lstStyle/>
          <a:p>
            <a:endParaRPr lang="fr-FR" dirty="0"/>
          </a:p>
          <a:p>
            <a:r>
              <a:rPr lang="fr-FR" dirty="0"/>
              <a:t>Cette étape permet d’identifier les facteurs ayant un fort impact sur les décisions de démission. Nous appliquons différentes méthodes pour les comparer : </a:t>
            </a:r>
          </a:p>
          <a:p>
            <a:pPr marL="0" indent="0">
              <a:buNone/>
            </a:pPr>
            <a:endParaRPr lang="fr-FR" dirty="0"/>
          </a:p>
          <a:p>
            <a:r>
              <a:rPr lang="fr-FR" dirty="0"/>
              <a:t>Feature Importance par classement des coefficients de chaque variable</a:t>
            </a:r>
          </a:p>
          <a:p>
            <a:endParaRPr lang="fr-FR" dirty="0"/>
          </a:p>
          <a:p>
            <a:r>
              <a:rPr lang="fr-FR" dirty="0"/>
              <a:t>Permutation Feature Importance</a:t>
            </a:r>
          </a:p>
          <a:p>
            <a:endParaRPr lang="fr-FR" dirty="0"/>
          </a:p>
          <a:p>
            <a:r>
              <a:rPr lang="fr-FR" dirty="0"/>
              <a:t>Importance Locale ( SHAP ) </a:t>
            </a:r>
          </a:p>
          <a:p>
            <a:endParaRPr lang="fr-FR" dirty="0"/>
          </a:p>
          <a:p>
            <a:endParaRPr lang="fr-FR" dirty="0"/>
          </a:p>
          <a:p>
            <a:endParaRPr lang="fr-FR" dirty="0"/>
          </a:p>
          <a:p>
            <a:endParaRPr lang="fr-FR" dirty="0"/>
          </a:p>
        </p:txBody>
      </p:sp>
    </p:spTree>
    <p:extLst>
      <p:ext uri="{BB962C8B-B14F-4D97-AF65-F5344CB8AC3E}">
        <p14:creationId xmlns:p14="http://schemas.microsoft.com/office/powerpoint/2010/main" val="1490439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9D5CF0-A53F-7269-F1DB-B0FC825F14BB}"/>
              </a:ext>
            </a:extLst>
          </p:cNvPr>
          <p:cNvSpPr>
            <a:spLocks noGrp="1"/>
          </p:cNvSpPr>
          <p:nvPr>
            <p:ph idx="1"/>
          </p:nvPr>
        </p:nvSpPr>
        <p:spPr>
          <a:xfrm>
            <a:off x="171098" y="196770"/>
            <a:ext cx="5924902" cy="6331352"/>
          </a:xfrm>
        </p:spPr>
        <p:txBody>
          <a:bodyPr>
            <a:normAutofit fontScale="92500" lnSpcReduction="20000"/>
          </a:bodyPr>
          <a:lstStyle/>
          <a:p>
            <a:pPr marL="0" indent="0">
              <a:buNone/>
            </a:pPr>
            <a:endParaRPr lang="fr-FR" sz="1200" dirty="0"/>
          </a:p>
          <a:p>
            <a:r>
              <a:rPr lang="fr-FR" sz="1200" dirty="0"/>
              <a:t>Nous constatons que le facteur le plus influent sur les décisions de départ des salariés est les heures supplémentaires. Plus un salarié fait des heures supplémentaires plus sa probabilité de démission augmente. La charge de travail serait le facteur n1 des démissions.</a:t>
            </a:r>
          </a:p>
          <a:p>
            <a:r>
              <a:rPr lang="fr-FR" sz="1200" dirty="0"/>
              <a:t>Le poste de représentant commercial est aussi très exposé aux démissions. il y a peut être une forte pression commercial qui pousse les salariés à démissionner.</a:t>
            </a:r>
          </a:p>
          <a:p>
            <a:endParaRPr lang="fr-FR" sz="1200" dirty="0"/>
          </a:p>
          <a:p>
            <a:r>
              <a:rPr lang="fr-FR" sz="1200" dirty="0"/>
              <a:t>Les déplacements sont aussi un facteur qui favorise à la démission. Plus un salarié fait des déplacements, plus sa probabilité de démission augmente. cela pourrait également être associé à la charge de travail, ou peut-être que les déplacements impactent négativement la vie personnelle des salariés.</a:t>
            </a:r>
          </a:p>
          <a:p>
            <a:endParaRPr lang="fr-FR" sz="1200" dirty="0"/>
          </a:p>
          <a:p>
            <a:r>
              <a:rPr lang="fr-FR" sz="1200" dirty="0"/>
              <a:t>Les postes de consultants et RH ont également une forte probabilité de démission.</a:t>
            </a:r>
          </a:p>
          <a:p>
            <a:endParaRPr lang="fr-FR" sz="1200" dirty="0"/>
          </a:p>
          <a:p>
            <a:r>
              <a:rPr lang="fr-FR" sz="1200" dirty="0"/>
              <a:t>Les salariés célibataires sont plus sujets aux démissions.</a:t>
            </a:r>
          </a:p>
          <a:p>
            <a:endParaRPr lang="fr-FR" sz="1200" dirty="0"/>
          </a:p>
          <a:p>
            <a:r>
              <a:rPr lang="fr-FR" sz="1200" dirty="0"/>
              <a:t>Les salariés ayant suivi des études en Entreprenariat sont également plus exposés aux démissions.</a:t>
            </a:r>
          </a:p>
          <a:p>
            <a:endParaRPr lang="fr-FR" sz="1200" dirty="0"/>
          </a:p>
          <a:p>
            <a:r>
              <a:rPr lang="fr-FR" sz="1200" dirty="0"/>
              <a:t>Les évolutions figurent aussi dans les facteurs importants de démissions. Plus l'évolution du salarié est ancienne plus sa probabilité de démission augmente. Les salariés pourraient être potentiellement en recherche d'une reconnaissance au travail fourni et plus de responsabilités.</a:t>
            </a:r>
          </a:p>
          <a:p>
            <a:endParaRPr lang="fr-FR" sz="1200" dirty="0"/>
          </a:p>
          <a:p>
            <a:r>
              <a:rPr lang="fr-FR" sz="1200" dirty="0"/>
              <a:t>L'évolution de salaire par rapport à la durée passé sous la responsabilité du même manager entre également en jeu. Cette variable mesure l’évolution salariale par rapport au nombre d'années sous le manager actuel.</a:t>
            </a:r>
          </a:p>
          <a:p>
            <a:r>
              <a:rPr lang="fr-FR" sz="1200" dirty="0"/>
              <a:t>l'Analyse des Feature Importance indique "bizarrement" que les salariés ayant eu des augmentations en peu de temps avec le manager sont plus exposés aux démissions. Il faut peut-être analyser les pratiques managériales internes et voir d'où viendrait le problème.</a:t>
            </a:r>
          </a:p>
        </p:txBody>
      </p:sp>
      <p:pic>
        <p:nvPicPr>
          <p:cNvPr id="4" name="Picture 3">
            <a:extLst>
              <a:ext uri="{FF2B5EF4-FFF2-40B4-BE49-F238E27FC236}">
                <a16:creationId xmlns:a16="http://schemas.microsoft.com/office/drawing/2014/main" id="{AA76FA10-3553-59C9-123B-3D7DFA34F131}"/>
              </a:ext>
            </a:extLst>
          </p:cNvPr>
          <p:cNvPicPr>
            <a:picLocks noChangeAspect="1"/>
          </p:cNvPicPr>
          <p:nvPr/>
        </p:nvPicPr>
        <p:blipFill>
          <a:blip r:embed="rId2"/>
          <a:stretch>
            <a:fillRect/>
          </a:stretch>
        </p:blipFill>
        <p:spPr>
          <a:xfrm>
            <a:off x="6096001" y="1018572"/>
            <a:ext cx="6096000" cy="4506340"/>
          </a:xfrm>
          <a:prstGeom prst="rect">
            <a:avLst/>
          </a:prstGeom>
        </p:spPr>
      </p:pic>
    </p:spTree>
    <p:extLst>
      <p:ext uri="{BB962C8B-B14F-4D97-AF65-F5344CB8AC3E}">
        <p14:creationId xmlns:p14="http://schemas.microsoft.com/office/powerpoint/2010/main" val="216402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89C8F5-2FA5-FC61-9A80-0D3682A6247E}"/>
              </a:ext>
            </a:extLst>
          </p:cNvPr>
          <p:cNvSpPr>
            <a:spLocks noGrp="1"/>
          </p:cNvSpPr>
          <p:nvPr>
            <p:ph idx="1"/>
          </p:nvPr>
        </p:nvSpPr>
        <p:spPr>
          <a:xfrm>
            <a:off x="185196" y="277792"/>
            <a:ext cx="5362186" cy="6319777"/>
          </a:xfrm>
        </p:spPr>
        <p:txBody>
          <a:bodyPr>
            <a:normAutofit/>
          </a:bodyPr>
          <a:lstStyle/>
          <a:p>
            <a:pPr marL="0" indent="0">
              <a:buNone/>
            </a:pPr>
            <a:endParaRPr lang="fr-FR" sz="1300" dirty="0"/>
          </a:p>
          <a:p>
            <a:r>
              <a:rPr lang="fr-FR" sz="1300" dirty="0"/>
              <a:t>Permutation Importance nous permet de visualiser les facteurs les plus influant sur les démissions en approche globale.</a:t>
            </a:r>
          </a:p>
          <a:p>
            <a:r>
              <a:rPr lang="fr-FR" sz="1300" dirty="0"/>
              <a:t>Nous avons le facteur Heures supp qui ressort en premier lieu (similaire aux classements des </a:t>
            </a:r>
            <a:r>
              <a:rPr lang="fr-FR" sz="1300" dirty="0" err="1"/>
              <a:t>Features</a:t>
            </a:r>
            <a:r>
              <a:rPr lang="fr-FR" sz="1300" dirty="0"/>
              <a:t> importance par coef), suivi par l'évolution de salaire par temps passé avec le même manager, et l'année de la dernière évolution.</a:t>
            </a:r>
          </a:p>
          <a:p>
            <a:r>
              <a:rPr lang="fr-FR" sz="1300" dirty="0"/>
              <a:t>Nous avons également les déplacements, la satisfaction de la nature du travail, et de l'environnement.</a:t>
            </a:r>
          </a:p>
          <a:p>
            <a:r>
              <a:rPr lang="fr-FR" sz="1300" dirty="0"/>
              <a:t>En résumé, les salariés quittent l'entreprise à cause de la charge de travail supplémentaire induite par les heures supplémentaires et les déplacements, le manque de reconnaissance de l'entreprise dont l'année de la dernière évolution, et l'augmentation des salaires témoignent. Il y a également des sujets à creuser au niveau de la satisfaction des salariés de la nature de leur métier et de l'environnement dans </a:t>
            </a:r>
            <a:r>
              <a:rPr lang="fr-FR" sz="1300" dirty="0" err="1"/>
              <a:t>lequels</a:t>
            </a:r>
            <a:r>
              <a:rPr lang="fr-FR" sz="1300" dirty="0"/>
              <a:t> ils travaillent. </a:t>
            </a:r>
          </a:p>
          <a:p>
            <a:endParaRPr lang="fr-FR" sz="1300" dirty="0"/>
          </a:p>
          <a:p>
            <a:r>
              <a:rPr lang="fr-FR" sz="1300" dirty="0"/>
              <a:t>Mais ce classement est d'ordre global. ce n'est peut-être pas valable à l'ensemble des salariés.</a:t>
            </a:r>
          </a:p>
          <a:p>
            <a:r>
              <a:rPr lang="fr-FR" sz="1300" dirty="0"/>
              <a:t>Nous avons besoin d'effectuer une analyse de Feature Importance locale avec SHAP pour mieux comprendre cas pas cas.</a:t>
            </a:r>
          </a:p>
          <a:p>
            <a:endParaRPr lang="fr-FR" dirty="0"/>
          </a:p>
        </p:txBody>
      </p:sp>
      <p:pic>
        <p:nvPicPr>
          <p:cNvPr id="4" name="Picture 3">
            <a:extLst>
              <a:ext uri="{FF2B5EF4-FFF2-40B4-BE49-F238E27FC236}">
                <a16:creationId xmlns:a16="http://schemas.microsoft.com/office/drawing/2014/main" id="{DEABBDF8-A958-4A05-DBA9-7B1B0DB5814C}"/>
              </a:ext>
            </a:extLst>
          </p:cNvPr>
          <p:cNvPicPr>
            <a:picLocks noChangeAspect="1"/>
          </p:cNvPicPr>
          <p:nvPr/>
        </p:nvPicPr>
        <p:blipFill>
          <a:blip r:embed="rId2"/>
          <a:stretch>
            <a:fillRect/>
          </a:stretch>
        </p:blipFill>
        <p:spPr>
          <a:xfrm>
            <a:off x="5547381" y="1079651"/>
            <a:ext cx="6356215" cy="4698698"/>
          </a:xfrm>
          <a:prstGeom prst="rect">
            <a:avLst/>
          </a:prstGeom>
        </p:spPr>
      </p:pic>
    </p:spTree>
    <p:extLst>
      <p:ext uri="{BB962C8B-B14F-4D97-AF65-F5344CB8AC3E}">
        <p14:creationId xmlns:p14="http://schemas.microsoft.com/office/powerpoint/2010/main" val="1656320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CBC0E-A835-CC59-518F-4AB478800A7D}"/>
              </a:ext>
            </a:extLst>
          </p:cNvPr>
          <p:cNvSpPr>
            <a:spLocks noGrp="1"/>
          </p:cNvSpPr>
          <p:nvPr>
            <p:ph type="title"/>
          </p:nvPr>
        </p:nvSpPr>
        <p:spPr>
          <a:xfrm>
            <a:off x="812157" y="-98185"/>
            <a:ext cx="10058400" cy="1371600"/>
          </a:xfrm>
        </p:spPr>
        <p:txBody>
          <a:bodyPr/>
          <a:lstStyle/>
          <a:p>
            <a:r>
              <a:rPr lang="fr-FR" dirty="0"/>
              <a:t>SHAP </a:t>
            </a:r>
          </a:p>
        </p:txBody>
      </p:sp>
      <p:sp>
        <p:nvSpPr>
          <p:cNvPr id="3" name="Content Placeholder 2">
            <a:extLst>
              <a:ext uri="{FF2B5EF4-FFF2-40B4-BE49-F238E27FC236}">
                <a16:creationId xmlns:a16="http://schemas.microsoft.com/office/drawing/2014/main" id="{2EBDFF88-28F3-FBAF-843A-9C7EFEE53B7B}"/>
              </a:ext>
            </a:extLst>
          </p:cNvPr>
          <p:cNvSpPr>
            <a:spLocks noGrp="1"/>
          </p:cNvSpPr>
          <p:nvPr>
            <p:ph idx="1"/>
          </p:nvPr>
        </p:nvSpPr>
        <p:spPr>
          <a:xfrm>
            <a:off x="357850" y="1095760"/>
            <a:ext cx="5276127" cy="5432362"/>
          </a:xfrm>
        </p:spPr>
        <p:txBody>
          <a:bodyPr>
            <a:normAutofit/>
          </a:bodyPr>
          <a:lstStyle/>
          <a:p>
            <a:r>
              <a:rPr lang="fr-FR" sz="1100" noProof="0" dirty="0"/>
              <a:t>Le graphique </a:t>
            </a:r>
            <a:r>
              <a:rPr lang="fr-FR" sz="1100" noProof="0" dirty="0" err="1"/>
              <a:t>Beeswarm</a:t>
            </a:r>
            <a:r>
              <a:rPr lang="fr-FR" sz="1100" noProof="0" dirty="0"/>
              <a:t> classe les </a:t>
            </a:r>
            <a:r>
              <a:rPr lang="fr-FR" sz="1100" noProof="0" dirty="0" err="1"/>
              <a:t>Features</a:t>
            </a:r>
            <a:r>
              <a:rPr lang="fr-FR" sz="1100" noProof="0" dirty="0"/>
              <a:t> par ordre d'importance global pour le model. Ce classement influence donc les prédictions et les probabilités de démissions ou pas.</a:t>
            </a:r>
          </a:p>
          <a:p>
            <a:pPr marL="0" indent="0">
              <a:buNone/>
            </a:pPr>
            <a:endParaRPr lang="fr-FR" sz="1100" noProof="0" dirty="0"/>
          </a:p>
          <a:p>
            <a:r>
              <a:rPr lang="fr-FR" sz="1100" noProof="0" dirty="0"/>
              <a:t>La ligne horizontale affiche les valeur SHAP, ou autrement dit, les probabilités de démission. Lorsque les valeurs de SHAP sont positives, elles poussent à prédire une démission ( 1 ). A contrario, lorsque les valeurs SHAP sont négatives, ou tendent vers 0, on prédit un non-départ.</a:t>
            </a:r>
          </a:p>
          <a:p>
            <a:endParaRPr lang="fr-FR" sz="1100" noProof="0" dirty="0"/>
          </a:p>
          <a:p>
            <a:r>
              <a:rPr lang="fr-FR" sz="1100" noProof="0" dirty="0"/>
              <a:t>Chaque point représente un salarié / une observation. le code couleur indique si la valeur de la Feature est élevée ou basse.</a:t>
            </a:r>
          </a:p>
          <a:p>
            <a:endParaRPr lang="fr-FR" sz="1100" noProof="0" dirty="0"/>
          </a:p>
          <a:p>
            <a:r>
              <a:rPr lang="fr-FR" sz="1100" noProof="0" dirty="0"/>
              <a:t>Prenons l'exemple de l'augmentation de Salaire. Plus sa valeur est faible ( Bleu ), plus SHAP value augmente. et donc une prédiction de démission.</a:t>
            </a:r>
          </a:p>
          <a:p>
            <a:pPr marL="0" indent="0">
              <a:buNone/>
            </a:pPr>
            <a:endParaRPr lang="fr-FR" sz="1100" noProof="0" dirty="0"/>
          </a:p>
          <a:p>
            <a:r>
              <a:rPr lang="fr-FR" sz="1100" noProof="0" dirty="0"/>
              <a:t>En regardant les heures supplémentaires, qui est une catégorie binaire, soit un salarié fait des heures supplémentaires ou n'en fait pas. Les salariés qui font des heures supplémentaires sont plus exposés aux risques de démissions. Plus les heures supp augmentent, plus Shape value augmente.</a:t>
            </a:r>
          </a:p>
          <a:p>
            <a:r>
              <a:rPr lang="fr-FR" sz="1100" dirty="0"/>
              <a:t>On constate que certains facteurs principaux sont similaires à toutes les méthodes : Heures Supplémentaires, Evolution, </a:t>
            </a:r>
            <a:r>
              <a:rPr lang="fr-FR" sz="1100" dirty="0" err="1"/>
              <a:t>Aug</a:t>
            </a:r>
            <a:r>
              <a:rPr lang="fr-FR" sz="1100" dirty="0"/>
              <a:t> de salaire…</a:t>
            </a:r>
            <a:endParaRPr lang="fr-FR" sz="1100" noProof="0" dirty="0"/>
          </a:p>
          <a:p>
            <a:endParaRPr lang="fr-FR" sz="1100" noProof="0" dirty="0"/>
          </a:p>
        </p:txBody>
      </p:sp>
      <p:pic>
        <p:nvPicPr>
          <p:cNvPr id="5" name="Picture 4">
            <a:extLst>
              <a:ext uri="{FF2B5EF4-FFF2-40B4-BE49-F238E27FC236}">
                <a16:creationId xmlns:a16="http://schemas.microsoft.com/office/drawing/2014/main" id="{5DE2BC98-8DA2-FC79-A9E2-606BB4D22C7A}"/>
              </a:ext>
            </a:extLst>
          </p:cNvPr>
          <p:cNvPicPr>
            <a:picLocks noChangeAspect="1"/>
          </p:cNvPicPr>
          <p:nvPr/>
        </p:nvPicPr>
        <p:blipFill>
          <a:blip r:embed="rId2"/>
          <a:stretch>
            <a:fillRect/>
          </a:stretch>
        </p:blipFill>
        <p:spPr>
          <a:xfrm>
            <a:off x="5966850" y="1227115"/>
            <a:ext cx="5867300" cy="5092662"/>
          </a:xfrm>
          <a:prstGeom prst="rect">
            <a:avLst/>
          </a:prstGeom>
        </p:spPr>
      </p:pic>
    </p:spTree>
    <p:extLst>
      <p:ext uri="{BB962C8B-B14F-4D97-AF65-F5344CB8AC3E}">
        <p14:creationId xmlns:p14="http://schemas.microsoft.com/office/powerpoint/2010/main" val="30580672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552713-182F-2EF2-84B4-7159922984C4}"/>
              </a:ext>
            </a:extLst>
          </p:cNvPr>
          <p:cNvSpPr>
            <a:spLocks noGrp="1"/>
          </p:cNvSpPr>
          <p:nvPr>
            <p:ph idx="1"/>
          </p:nvPr>
        </p:nvSpPr>
        <p:spPr>
          <a:xfrm>
            <a:off x="879673" y="5367181"/>
            <a:ext cx="11030675" cy="987320"/>
          </a:xfrm>
        </p:spPr>
        <p:txBody>
          <a:bodyPr>
            <a:normAutofit fontScale="92500" lnSpcReduction="20000"/>
          </a:bodyPr>
          <a:lstStyle/>
          <a:p>
            <a:endParaRPr lang="fr-FR" sz="1100" dirty="0"/>
          </a:p>
          <a:p>
            <a:r>
              <a:rPr lang="fr-FR" sz="1400" dirty="0"/>
              <a:t>Nous constatons sur ce graphique une concentration de la couleur bleue pour les plus jeunes ( début de la trentaine ), accompagnée par une SHAP value élevée.</a:t>
            </a:r>
          </a:p>
          <a:p>
            <a:r>
              <a:rPr lang="fr-FR" sz="1400" dirty="0"/>
              <a:t>Ceci indique que les probabilités de départ sont plus fortes pour les jeunes, d’autant plus qu’ils ont des salaires bas.</a:t>
            </a:r>
          </a:p>
          <a:p>
            <a:endParaRPr lang="fr-FR" sz="1100" dirty="0"/>
          </a:p>
          <a:p>
            <a:pPr marL="0" indent="0">
              <a:buNone/>
            </a:pPr>
            <a:endParaRPr lang="fr-FR" sz="1100" dirty="0"/>
          </a:p>
        </p:txBody>
      </p:sp>
      <p:pic>
        <p:nvPicPr>
          <p:cNvPr id="4" name="Picture 3">
            <a:extLst>
              <a:ext uri="{FF2B5EF4-FFF2-40B4-BE49-F238E27FC236}">
                <a16:creationId xmlns:a16="http://schemas.microsoft.com/office/drawing/2014/main" id="{6ED7B3B3-0AAD-5E3A-C299-EE206A52B534}"/>
              </a:ext>
            </a:extLst>
          </p:cNvPr>
          <p:cNvPicPr>
            <a:picLocks noChangeAspect="1"/>
          </p:cNvPicPr>
          <p:nvPr/>
        </p:nvPicPr>
        <p:blipFill>
          <a:blip r:embed="rId2"/>
          <a:srcRect t="5548"/>
          <a:stretch>
            <a:fillRect/>
          </a:stretch>
        </p:blipFill>
        <p:spPr>
          <a:xfrm>
            <a:off x="1410182" y="403180"/>
            <a:ext cx="7772400" cy="4801957"/>
          </a:xfrm>
          <a:prstGeom prst="rect">
            <a:avLst/>
          </a:prstGeom>
        </p:spPr>
      </p:pic>
    </p:spTree>
    <p:extLst>
      <p:ext uri="{BB962C8B-B14F-4D97-AF65-F5344CB8AC3E}">
        <p14:creationId xmlns:p14="http://schemas.microsoft.com/office/powerpoint/2010/main" val="2916112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52C912-616A-8EC1-025A-C80F5A340429}"/>
              </a:ext>
            </a:extLst>
          </p:cNvPr>
          <p:cNvSpPr>
            <a:spLocks noGrp="1"/>
          </p:cNvSpPr>
          <p:nvPr>
            <p:ph idx="1"/>
          </p:nvPr>
        </p:nvSpPr>
        <p:spPr>
          <a:xfrm>
            <a:off x="334702" y="1261640"/>
            <a:ext cx="4897055" cy="4919241"/>
          </a:xfrm>
        </p:spPr>
        <p:txBody>
          <a:bodyPr>
            <a:normAutofit/>
          </a:bodyPr>
          <a:lstStyle/>
          <a:p>
            <a:r>
              <a:rPr lang="fr-FR" sz="1400" noProof="0" dirty="0"/>
              <a:t>Concernant l'observation n1, il s'agit d'un salarié démissionnaire avec une probabilité de </a:t>
            </a:r>
            <a:r>
              <a:rPr lang="fr-FR" sz="1400" b="1" noProof="0" dirty="0"/>
              <a:t>89%.</a:t>
            </a:r>
          </a:p>
          <a:p>
            <a:r>
              <a:rPr lang="fr-FR" sz="1400" noProof="0" dirty="0"/>
              <a:t>Nous partons d'une base value de -0.8 (La prédiction moyenne du modèle sans aucune </a:t>
            </a:r>
            <a:r>
              <a:rPr lang="fr-FR" sz="1400" noProof="0" dirty="0" err="1"/>
              <a:t>feature</a:t>
            </a:r>
            <a:r>
              <a:rPr lang="fr-FR" sz="1400" noProof="0" dirty="0"/>
              <a:t>)</a:t>
            </a:r>
          </a:p>
          <a:p>
            <a:r>
              <a:rPr lang="fr-FR" sz="1400" noProof="0" dirty="0"/>
              <a:t>Pour ce salarié, nous observons les facteurs ainsi que leur contribution à la probabilité de départ ou de rester.</a:t>
            </a:r>
          </a:p>
          <a:p>
            <a:r>
              <a:rPr lang="fr-FR" sz="1400" dirty="0"/>
              <a:t>En l'occurrence </a:t>
            </a:r>
            <a:r>
              <a:rPr lang="fr-FR" sz="1400" noProof="0" dirty="0"/>
              <a:t>pour ce salarié, nous avons quelques facteurs principaux qui l'ont poussé à démissionné à savoir : Les heures supp (+ 1,14), Les expériences précédentes (+1,01), Les déplacements (+0,68) et poste en RH (+0,62)</a:t>
            </a:r>
          </a:p>
          <a:p>
            <a:endParaRPr lang="fr-FR" sz="1100" noProof="0" dirty="0"/>
          </a:p>
        </p:txBody>
      </p:sp>
      <p:pic>
        <p:nvPicPr>
          <p:cNvPr id="4" name="Picture 3">
            <a:extLst>
              <a:ext uri="{FF2B5EF4-FFF2-40B4-BE49-F238E27FC236}">
                <a16:creationId xmlns:a16="http://schemas.microsoft.com/office/drawing/2014/main" id="{611D978D-26F4-7EB8-5ECB-DD746BBABAC5}"/>
              </a:ext>
            </a:extLst>
          </p:cNvPr>
          <p:cNvPicPr>
            <a:picLocks noChangeAspect="1"/>
          </p:cNvPicPr>
          <p:nvPr/>
        </p:nvPicPr>
        <p:blipFill>
          <a:blip r:embed="rId2"/>
          <a:stretch>
            <a:fillRect/>
          </a:stretch>
        </p:blipFill>
        <p:spPr>
          <a:xfrm>
            <a:off x="5333036" y="855858"/>
            <a:ext cx="6428771" cy="5146284"/>
          </a:xfrm>
          <a:prstGeom prst="rect">
            <a:avLst/>
          </a:prstGeom>
        </p:spPr>
      </p:pic>
    </p:spTree>
    <p:extLst>
      <p:ext uri="{BB962C8B-B14F-4D97-AF65-F5344CB8AC3E}">
        <p14:creationId xmlns:p14="http://schemas.microsoft.com/office/powerpoint/2010/main" val="51099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6EBB66-7F55-AED7-083F-977D2DEC983A}"/>
              </a:ext>
            </a:extLst>
          </p:cNvPr>
          <p:cNvSpPr>
            <a:spLocks noGrp="1"/>
          </p:cNvSpPr>
          <p:nvPr>
            <p:ph idx="1"/>
          </p:nvPr>
        </p:nvSpPr>
        <p:spPr>
          <a:xfrm>
            <a:off x="299977" y="1180618"/>
            <a:ext cx="5140124" cy="4826642"/>
          </a:xfrm>
        </p:spPr>
        <p:txBody>
          <a:bodyPr>
            <a:normAutofit/>
          </a:bodyPr>
          <a:lstStyle/>
          <a:p>
            <a:endParaRPr lang="fr-FR" sz="1400" noProof="0" dirty="0"/>
          </a:p>
          <a:p>
            <a:r>
              <a:rPr lang="fr-FR" sz="1400" noProof="0" dirty="0"/>
              <a:t>La probabilité de démission de ce salarié est très faible. Il fait partie des salariés restants.</a:t>
            </a:r>
          </a:p>
          <a:p>
            <a:r>
              <a:rPr lang="fr-FR" sz="1400" noProof="0" dirty="0"/>
              <a:t>Les prédictions de son non-départ sont expliquées par la nature de son poste de Manager. Les managers sont moins concernés par les démissions. Ils sont probablement satisfaits de leur poste.</a:t>
            </a:r>
          </a:p>
          <a:p>
            <a:r>
              <a:rPr lang="fr-FR" sz="1400" noProof="0" dirty="0"/>
              <a:t>Le domaine d'étude de ce salarié 'Entreprenariat' favorise les démissions, mais en revanche il ne fait pas d'heures supplémentaires ce que notre model considère comme un facteur positif pour le maintenir en poste.</a:t>
            </a:r>
          </a:p>
          <a:p>
            <a:r>
              <a:rPr lang="fr-FR" sz="1400" noProof="0" dirty="0"/>
              <a:t>Les autres facteurs ont des impacts plutôt minimes individuellement, mais leur effet global permet de prédire que ce salarié restera dans l'entreprise à 91%.</a:t>
            </a:r>
          </a:p>
          <a:p>
            <a:endParaRPr lang="fr-FR" sz="1400" b="1" noProof="0" dirty="0"/>
          </a:p>
          <a:p>
            <a:endParaRPr lang="fr-FR" sz="1400" b="1" noProof="0" dirty="0"/>
          </a:p>
        </p:txBody>
      </p:sp>
      <p:pic>
        <p:nvPicPr>
          <p:cNvPr id="4" name="Picture 3">
            <a:extLst>
              <a:ext uri="{FF2B5EF4-FFF2-40B4-BE49-F238E27FC236}">
                <a16:creationId xmlns:a16="http://schemas.microsoft.com/office/drawing/2014/main" id="{7CD6718E-C998-7865-A670-DED776E6B837}"/>
              </a:ext>
            </a:extLst>
          </p:cNvPr>
          <p:cNvPicPr>
            <a:picLocks noChangeAspect="1"/>
          </p:cNvPicPr>
          <p:nvPr/>
        </p:nvPicPr>
        <p:blipFill>
          <a:blip r:embed="rId2"/>
          <a:stretch>
            <a:fillRect/>
          </a:stretch>
        </p:blipFill>
        <p:spPr>
          <a:xfrm>
            <a:off x="5531055" y="1053296"/>
            <a:ext cx="6360968" cy="5124564"/>
          </a:xfrm>
          <a:prstGeom prst="rect">
            <a:avLst/>
          </a:prstGeom>
        </p:spPr>
      </p:pic>
    </p:spTree>
    <p:extLst>
      <p:ext uri="{BB962C8B-B14F-4D97-AF65-F5344CB8AC3E}">
        <p14:creationId xmlns:p14="http://schemas.microsoft.com/office/powerpoint/2010/main" val="2202661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71481-4E8C-641E-9BD0-5A49D9CC2B27}"/>
              </a:ext>
            </a:extLst>
          </p:cNvPr>
          <p:cNvSpPr>
            <a:spLocks noGrp="1"/>
          </p:cNvSpPr>
          <p:nvPr>
            <p:ph type="title"/>
          </p:nvPr>
        </p:nvSpPr>
        <p:spPr>
          <a:xfrm>
            <a:off x="870030" y="306929"/>
            <a:ext cx="10058400" cy="862115"/>
          </a:xfrm>
        </p:spPr>
        <p:txBody>
          <a:bodyPr/>
          <a:lstStyle/>
          <a:p>
            <a:r>
              <a:rPr lang="fr-FR" dirty="0"/>
              <a:t>Conclusion</a:t>
            </a:r>
          </a:p>
        </p:txBody>
      </p:sp>
      <p:sp>
        <p:nvSpPr>
          <p:cNvPr id="3" name="Content Placeholder 2">
            <a:extLst>
              <a:ext uri="{FF2B5EF4-FFF2-40B4-BE49-F238E27FC236}">
                <a16:creationId xmlns:a16="http://schemas.microsoft.com/office/drawing/2014/main" id="{2A76F3FF-F55A-1577-63FF-FA3AA16FE2F6}"/>
              </a:ext>
            </a:extLst>
          </p:cNvPr>
          <p:cNvSpPr>
            <a:spLocks noGrp="1"/>
          </p:cNvSpPr>
          <p:nvPr>
            <p:ph idx="1"/>
          </p:nvPr>
        </p:nvSpPr>
        <p:spPr>
          <a:xfrm>
            <a:off x="322161" y="1504906"/>
            <a:ext cx="11472442" cy="4884319"/>
          </a:xfrm>
        </p:spPr>
        <p:txBody>
          <a:bodyPr>
            <a:normAutofit/>
          </a:bodyPr>
          <a:lstStyle/>
          <a:p>
            <a:r>
              <a:rPr lang="fr-FR" sz="1400" noProof="0" dirty="0"/>
              <a:t>Nous retenons que dans notre cas, le modèle de Régression Logistique est celui qui donne les meilleurs résultats en prédictions des démissions des salariés.</a:t>
            </a:r>
          </a:p>
          <a:p>
            <a:r>
              <a:rPr lang="fr-FR" sz="1400" noProof="0" dirty="0"/>
              <a:t>On pourrait ajuster le seuil de probabilité en fonction du choix stratégique de l'entreprise. Cela permettrait d'affiner les résultats en fonction des besoins.</a:t>
            </a:r>
          </a:p>
          <a:p>
            <a:r>
              <a:rPr lang="fr-FR" sz="1400" noProof="0" dirty="0"/>
              <a:t>Les différentes analyses menées sur les variables démontrent que certains facteurs sont communs à toutes les démissions, on en cite :</a:t>
            </a:r>
          </a:p>
          <a:p>
            <a:r>
              <a:rPr lang="fr-FR" sz="1400" noProof="0" dirty="0"/>
              <a:t>Les heures supplémentaires qui revient toujours en première position quelque soit l'analyse. Pour affiner leur impact, ce serait d’intéressant d’avoir le nombre d’heures supplémentaires par salariés.</a:t>
            </a:r>
          </a:p>
          <a:p>
            <a:r>
              <a:rPr lang="fr-FR" sz="1400" noProof="0" dirty="0"/>
              <a:t>Les déplacements sont aussi dans le top 5 des facteurs de démission. Une analyse par distance des déplacements ou </a:t>
            </a:r>
            <a:r>
              <a:rPr lang="fr-FR" sz="1400" dirty="0"/>
              <a:t>le </a:t>
            </a:r>
            <a:r>
              <a:rPr lang="fr-FR" sz="1400" noProof="0" dirty="0"/>
              <a:t>nombre mensuel de déplacements pourrait améliorer les prédictions.</a:t>
            </a:r>
          </a:p>
          <a:p>
            <a:r>
              <a:rPr lang="fr-FR" sz="1400" noProof="0" dirty="0"/>
              <a:t>L'évolution fait également partie des sujets irritants.</a:t>
            </a:r>
          </a:p>
          <a:p>
            <a:r>
              <a:rPr lang="fr-FR" sz="1400" noProof="0" dirty="0"/>
              <a:t>En travaillant sur ces volets, l'entreprise pourrait éviter plus de Turnover dans le futur.</a:t>
            </a:r>
          </a:p>
          <a:p>
            <a:r>
              <a:rPr lang="fr-FR" sz="1400" noProof="0" dirty="0"/>
              <a:t>Nous retrouvons également quelques particularités relatives à la nature du poste, la satisfaction du salarié, et sa situation personnelle</a:t>
            </a:r>
          </a:p>
          <a:p>
            <a:r>
              <a:rPr lang="fr-FR" sz="1400" noProof="0" dirty="0"/>
              <a:t>L'analyse au cas par cas permet de mieux comprendre les motivations de chaque salarié, et mériterait d'être accentuée sur les salariés clés dont le départ impacterait fortement le fonctionnement de l'entreprise.</a:t>
            </a:r>
          </a:p>
        </p:txBody>
      </p:sp>
    </p:spTree>
    <p:extLst>
      <p:ext uri="{BB962C8B-B14F-4D97-AF65-F5344CB8AC3E}">
        <p14:creationId xmlns:p14="http://schemas.microsoft.com/office/powerpoint/2010/main" val="18221949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184</TotalTime>
  <Words>2238</Words>
  <Application>Microsoft Macintosh PowerPoint</Application>
  <PresentationFormat>Widescreen</PresentationFormat>
  <Paragraphs>187</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Century Gothic</vt:lpstr>
      <vt:lpstr>Garamond</vt:lpstr>
      <vt:lpstr>Wingdings</vt:lpstr>
      <vt:lpstr>Savon</vt:lpstr>
      <vt:lpstr> Projet 4 Mission - Identifiez les causes d'attrition au sein de l’ESN   TechNova Partners </vt:lpstr>
      <vt:lpstr>Contexte : </vt:lpstr>
      <vt:lpstr>Analyse exploratoire</vt:lpstr>
      <vt:lpstr>Comparaison du Turnover : </vt:lpstr>
      <vt:lpstr>PowerPoint Presentation</vt:lpstr>
      <vt:lpstr>PowerPoint Presentation</vt:lpstr>
      <vt:lpstr>Feature Engineering </vt:lpstr>
      <vt:lpstr>Modélisation</vt:lpstr>
      <vt:lpstr>PowerPoint Presentation</vt:lpstr>
      <vt:lpstr>PowerPoint Presentation</vt:lpstr>
      <vt:lpstr>PowerPoint Presentation</vt:lpstr>
      <vt:lpstr>Optimisation du modèle </vt:lpstr>
      <vt:lpstr>Feature Importance</vt:lpstr>
      <vt:lpstr>PowerPoint Presentation</vt:lpstr>
      <vt:lpstr>PowerPoint Presentation</vt:lpstr>
      <vt:lpstr>SHAP </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fz.romane@gmail.com</dc:creator>
  <cp:lastModifiedBy>fz.romane@gmail.com</cp:lastModifiedBy>
  <cp:revision>13</cp:revision>
  <dcterms:created xsi:type="dcterms:W3CDTF">2025-07-23T02:35:12Z</dcterms:created>
  <dcterms:modified xsi:type="dcterms:W3CDTF">2026-02-01T16:20:45Z</dcterms:modified>
</cp:coreProperties>
</file>